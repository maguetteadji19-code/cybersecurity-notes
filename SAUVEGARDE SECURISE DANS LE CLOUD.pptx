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sldIdLst>
    <p:sldId id="256" r:id="rId2"/>
    <p:sldId id="300" r:id="rId3"/>
    <p:sldId id="258" r:id="rId4"/>
    <p:sldId id="260" r:id="rId5"/>
    <p:sldId id="266" r:id="rId6"/>
    <p:sldId id="263" r:id="rId7"/>
    <p:sldId id="262"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JI MAGUETTE OUSSEYNOU NDIAYE" initials="AN" lastIdx="1" clrIdx="0">
    <p:extLst>
      <p:ext uri="{19B8F6BF-5375-455C-9EA6-DF929625EA0E}">
        <p15:presenceInfo xmlns:p15="http://schemas.microsoft.com/office/powerpoint/2012/main" userId="a3be0d91f4f4a2a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3-30T19:30:45.922" idx="1">
    <p:pos x="7248" y="3839"/>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DA87D5-D778-4F31-B865-FBBE4FD833C5}" type="datetimeFigureOut">
              <a:rPr lang="fr-FR" smtClean="0"/>
              <a:t>15/04/2026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A3E29A-E800-4F98-8F8B-A9C20FB6890D}" type="slidenum">
              <a:rPr lang="fr-FR" smtClean="0"/>
              <a:t>‹N°›</a:t>
            </a:fld>
            <a:endParaRPr lang="fr-FR"/>
          </a:p>
        </p:txBody>
      </p:sp>
    </p:spTree>
    <p:extLst>
      <p:ext uri="{BB962C8B-B14F-4D97-AF65-F5344CB8AC3E}">
        <p14:creationId xmlns:p14="http://schemas.microsoft.com/office/powerpoint/2010/main" val="42748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2A3E29A-E800-4F98-8F8B-A9C20FB6890D}" type="slidenum">
              <a:rPr lang="fr-FR" smtClean="0"/>
              <a:t>3</a:t>
            </a:fld>
            <a:endParaRPr lang="fr-FR"/>
          </a:p>
        </p:txBody>
      </p:sp>
    </p:spTree>
    <p:extLst>
      <p:ext uri="{BB962C8B-B14F-4D97-AF65-F5344CB8AC3E}">
        <p14:creationId xmlns:p14="http://schemas.microsoft.com/office/powerpoint/2010/main" val="18256444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4/15/2026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4/15/2026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4/15/2026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4/15/2026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4/15/2026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4/15/2026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4/15/2026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7221A4-ABF0-F570-5593-AE51C49FE245}"/>
              </a:ext>
            </a:extLst>
          </p:cNvPr>
          <p:cNvSpPr>
            <a:spLocks noGrp="1"/>
          </p:cNvSpPr>
          <p:nvPr>
            <p:ph type="ctrTitle"/>
          </p:nvPr>
        </p:nvSpPr>
        <p:spPr/>
        <p:txBody>
          <a:bodyPr>
            <a:normAutofit fontScale="90000"/>
          </a:bodyPr>
          <a:lstStyle/>
          <a:p>
            <a:r>
              <a:rPr lang="fr-FR" b="1" i="1" u="sng" dirty="0"/>
              <a:t>TP</a:t>
            </a:r>
            <a:r>
              <a:rPr lang="fr-FR" dirty="0"/>
              <a:t> : sauvegarde sécurisée dans le cloud.</a:t>
            </a:r>
          </a:p>
        </p:txBody>
      </p:sp>
      <p:sp>
        <p:nvSpPr>
          <p:cNvPr id="3" name="Sous-titre 2">
            <a:extLst>
              <a:ext uri="{FF2B5EF4-FFF2-40B4-BE49-F238E27FC236}">
                <a16:creationId xmlns:a16="http://schemas.microsoft.com/office/drawing/2014/main" id="{7B32C762-F578-2A24-96F1-65FCDC23FD9A}"/>
              </a:ext>
            </a:extLst>
          </p:cNvPr>
          <p:cNvSpPr>
            <a:spLocks noGrp="1"/>
          </p:cNvSpPr>
          <p:nvPr>
            <p:ph type="subTitle" idx="1"/>
          </p:nvPr>
        </p:nvSpPr>
        <p:spPr/>
        <p:txBody>
          <a:bodyPr>
            <a:noAutofit/>
          </a:bodyPr>
          <a:lstStyle/>
          <a:p>
            <a:r>
              <a:rPr lang="fr-FR" sz="1400" u="sng" dirty="0"/>
              <a:t>Module</a:t>
            </a:r>
            <a:r>
              <a:rPr lang="fr-FR" sz="1400" dirty="0"/>
              <a:t>: INTRODUCTION AU CLOUD COMPUTING </a:t>
            </a:r>
          </a:p>
          <a:p>
            <a:r>
              <a:rPr lang="fr-FR" sz="1400" u="sng" dirty="0"/>
              <a:t>Encadreur:</a:t>
            </a:r>
            <a:r>
              <a:rPr lang="fr-FR" sz="1400" dirty="0"/>
              <a:t> Mr. Cissé</a:t>
            </a:r>
          </a:p>
          <a:p>
            <a:r>
              <a:rPr lang="fr-FR" sz="1400" u="sng" dirty="0"/>
              <a:t>Ecole</a:t>
            </a:r>
            <a:r>
              <a:rPr lang="fr-FR" sz="1400" dirty="0"/>
              <a:t>: BEM TECH </a:t>
            </a:r>
          </a:p>
        </p:txBody>
      </p:sp>
    </p:spTree>
    <p:extLst>
      <p:ext uri="{BB962C8B-B14F-4D97-AF65-F5344CB8AC3E}">
        <p14:creationId xmlns:p14="http://schemas.microsoft.com/office/powerpoint/2010/main" val="1187597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E20879-C396-5013-6CD1-FB1DD54F9BD3}"/>
              </a:ext>
            </a:extLst>
          </p:cNvPr>
          <p:cNvSpPr>
            <a:spLocks noGrp="1"/>
          </p:cNvSpPr>
          <p:nvPr>
            <p:ph type="title"/>
          </p:nvPr>
        </p:nvSpPr>
        <p:spPr/>
        <p:txBody>
          <a:bodyPr/>
          <a:lstStyle/>
          <a:p>
            <a:pPr algn="ctr"/>
            <a:r>
              <a:rPr lang="fr-FR" u="sng" dirty="0"/>
              <a:t>énoncé</a:t>
            </a:r>
          </a:p>
        </p:txBody>
      </p:sp>
      <p:pic>
        <p:nvPicPr>
          <p:cNvPr id="5" name="Espace réservé du contenu 4">
            <a:extLst>
              <a:ext uri="{FF2B5EF4-FFF2-40B4-BE49-F238E27FC236}">
                <a16:creationId xmlns:a16="http://schemas.microsoft.com/office/drawing/2014/main" id="{B3707C14-FDD0-C65F-6832-743E0D81232C}"/>
              </a:ext>
            </a:extLst>
          </p:cNvPr>
          <p:cNvPicPr>
            <a:picLocks noGrp="1" noChangeAspect="1"/>
          </p:cNvPicPr>
          <p:nvPr>
            <p:ph idx="1"/>
          </p:nvPr>
        </p:nvPicPr>
        <p:blipFill>
          <a:blip r:embed="rId2"/>
          <a:stretch>
            <a:fillRect/>
          </a:stretch>
        </p:blipFill>
        <p:spPr>
          <a:xfrm>
            <a:off x="4255727" y="2193925"/>
            <a:ext cx="3639137" cy="4024313"/>
          </a:xfrm>
          <a:prstGeom prst="rect">
            <a:avLst/>
          </a:prstGeom>
        </p:spPr>
      </p:pic>
    </p:spTree>
    <p:extLst>
      <p:ext uri="{BB962C8B-B14F-4D97-AF65-F5344CB8AC3E}">
        <p14:creationId xmlns:p14="http://schemas.microsoft.com/office/powerpoint/2010/main" val="159165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70CC7E-AC1C-E2B1-8EE5-301800DAFED0}"/>
              </a:ext>
            </a:extLst>
          </p:cNvPr>
          <p:cNvSpPr>
            <a:spLocks noGrp="1"/>
          </p:cNvSpPr>
          <p:nvPr>
            <p:ph type="title"/>
          </p:nvPr>
        </p:nvSpPr>
        <p:spPr/>
        <p:txBody>
          <a:bodyPr>
            <a:normAutofit/>
          </a:bodyPr>
          <a:lstStyle/>
          <a:p>
            <a:pPr algn="ctr"/>
            <a:r>
              <a:rPr lang="fr-FR" sz="4400" u="sng" dirty="0"/>
              <a:t>sommaire</a:t>
            </a:r>
          </a:p>
        </p:txBody>
      </p:sp>
      <p:sp>
        <p:nvSpPr>
          <p:cNvPr id="3" name="Espace réservé du contenu 2">
            <a:extLst>
              <a:ext uri="{FF2B5EF4-FFF2-40B4-BE49-F238E27FC236}">
                <a16:creationId xmlns:a16="http://schemas.microsoft.com/office/drawing/2014/main" id="{52177F0F-9442-62CF-9D2F-A6C75A11413B}"/>
              </a:ext>
            </a:extLst>
          </p:cNvPr>
          <p:cNvSpPr>
            <a:spLocks noGrp="1"/>
          </p:cNvSpPr>
          <p:nvPr>
            <p:ph idx="1"/>
          </p:nvPr>
        </p:nvSpPr>
        <p:spPr/>
        <p:txBody>
          <a:bodyPr>
            <a:normAutofit fontScale="85000" lnSpcReduction="20000"/>
          </a:bodyPr>
          <a:lstStyle/>
          <a:p>
            <a:pPr marL="457200" indent="-457200">
              <a:buFont typeface="+mj-lt"/>
              <a:buAutoNum type="arabicPeriod"/>
            </a:pPr>
            <a:r>
              <a:rPr lang="fr-FR" sz="4000" dirty="0"/>
              <a:t> </a:t>
            </a:r>
            <a:r>
              <a:rPr lang="fr-FR" sz="4000" dirty="0">
                <a:latin typeface="Bahnschrift SemiLight" panose="020B0502040204020203" pitchFamily="34" charset="0"/>
              </a:rPr>
              <a:t>introduction</a:t>
            </a:r>
          </a:p>
          <a:p>
            <a:pPr marL="457200" indent="-457200">
              <a:buFont typeface="+mj-lt"/>
              <a:buAutoNum type="arabicPeriod"/>
            </a:pPr>
            <a:r>
              <a:rPr lang="fr-FR" sz="4000" dirty="0">
                <a:latin typeface="Bahnschrift SemiLight" panose="020B0502040204020203" pitchFamily="34" charset="0"/>
              </a:rPr>
              <a:t>Provisionnement du </a:t>
            </a:r>
            <a:r>
              <a:rPr lang="fr-FR" sz="4000" dirty="0" err="1">
                <a:latin typeface="Bahnschrift SemiLight" panose="020B0502040204020203" pitchFamily="34" charset="0"/>
              </a:rPr>
              <a:t>bucket</a:t>
            </a:r>
            <a:endParaRPr lang="fr-FR" sz="4000" dirty="0">
              <a:latin typeface="Bahnschrift SemiLight" panose="020B0502040204020203" pitchFamily="34" charset="0"/>
            </a:endParaRPr>
          </a:p>
          <a:p>
            <a:pPr marL="457200" indent="-457200">
              <a:buFont typeface="+mj-lt"/>
              <a:buAutoNum type="arabicPeriod"/>
            </a:pPr>
            <a:r>
              <a:rPr lang="fr-FR" sz="4000" dirty="0">
                <a:latin typeface="Bahnschrift SemiLight" panose="020B0502040204020203" pitchFamily="34" charset="0"/>
              </a:rPr>
              <a:t>Activation du </a:t>
            </a:r>
            <a:r>
              <a:rPr lang="fr-FR" sz="4000" dirty="0" err="1">
                <a:latin typeface="Bahnschrift SemiLight" panose="020B0502040204020203" pitchFamily="34" charset="0"/>
              </a:rPr>
              <a:t>versionning</a:t>
            </a:r>
            <a:endParaRPr lang="fr-FR" sz="4000" dirty="0">
              <a:latin typeface="Bahnschrift SemiLight" panose="020B0502040204020203" pitchFamily="34" charset="0"/>
            </a:endParaRPr>
          </a:p>
          <a:p>
            <a:pPr marL="457200" indent="-457200">
              <a:buFont typeface="+mj-lt"/>
              <a:buAutoNum type="arabicPeriod"/>
            </a:pPr>
            <a:r>
              <a:rPr lang="fr-FR" sz="4000" dirty="0"/>
              <a:t>tests d'itération</a:t>
            </a:r>
          </a:p>
          <a:p>
            <a:pPr marL="457200" indent="-457200">
              <a:buFont typeface="+mj-lt"/>
              <a:buAutoNum type="arabicPeriod"/>
            </a:pPr>
            <a:r>
              <a:rPr lang="fr-FR" sz="4000" dirty="0">
                <a:latin typeface="Bahnschrift SemiLight" panose="020B0502040204020203" pitchFamily="34" charset="0"/>
              </a:rPr>
              <a:t>Simulation d’incidents</a:t>
            </a:r>
          </a:p>
          <a:p>
            <a:pPr marL="457200" indent="-457200">
              <a:buFont typeface="+mj-lt"/>
              <a:buAutoNum type="arabicPeriod"/>
            </a:pPr>
            <a:r>
              <a:rPr lang="fr-FR" sz="4000" dirty="0">
                <a:latin typeface="Bahnschrift SemiLight" panose="020B0502040204020203" pitchFamily="34" charset="0"/>
              </a:rPr>
              <a:t>restauration</a:t>
            </a:r>
          </a:p>
          <a:p>
            <a:pPr marL="457200" indent="-457200">
              <a:buFont typeface="+mj-lt"/>
              <a:buAutoNum type="arabicPeriod"/>
            </a:pPr>
            <a:r>
              <a:rPr lang="fr-FR" sz="4000" dirty="0">
                <a:latin typeface="Bahnschrift SemiLight" panose="020B0502040204020203" pitchFamily="34" charset="0"/>
              </a:rPr>
              <a:t>Mise en œuvre d’une politique de sauvegarde</a:t>
            </a:r>
          </a:p>
          <a:p>
            <a:pPr marL="457200" indent="-457200">
              <a:buFont typeface="+mj-lt"/>
              <a:buAutoNum type="arabicPeriod"/>
            </a:pPr>
            <a:r>
              <a:rPr lang="fr-FR" sz="4000" dirty="0">
                <a:latin typeface="Bahnschrift SemiLight" panose="020B0502040204020203" pitchFamily="34" charset="0"/>
              </a:rPr>
              <a:t>Conclusion</a:t>
            </a:r>
          </a:p>
          <a:p>
            <a:pPr marL="0" indent="0">
              <a:buNone/>
            </a:pPr>
            <a:endParaRPr lang="fr-FR" sz="4000" dirty="0">
              <a:latin typeface="Bahnschrift SemiLight" panose="020B0502040204020203" pitchFamily="34" charset="0"/>
            </a:endParaRPr>
          </a:p>
        </p:txBody>
      </p:sp>
    </p:spTree>
    <p:extLst>
      <p:ext uri="{BB962C8B-B14F-4D97-AF65-F5344CB8AC3E}">
        <p14:creationId xmlns:p14="http://schemas.microsoft.com/office/powerpoint/2010/main" val="634994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8C6617-46A6-EA30-E125-7C17BE08B1D1}"/>
              </a:ext>
            </a:extLst>
          </p:cNvPr>
          <p:cNvSpPr>
            <a:spLocks noGrp="1"/>
          </p:cNvSpPr>
          <p:nvPr>
            <p:ph type="title"/>
          </p:nvPr>
        </p:nvSpPr>
        <p:spPr>
          <a:xfrm>
            <a:off x="3163455" y="431864"/>
            <a:ext cx="8610600" cy="2052718"/>
          </a:xfrm>
        </p:spPr>
        <p:txBody>
          <a:bodyPr/>
          <a:lstStyle/>
          <a:p>
            <a:r>
              <a:rPr lang="fr-FR" b="1" u="sng" dirty="0"/>
              <a:t>Description du projet</a:t>
            </a:r>
          </a:p>
        </p:txBody>
      </p:sp>
      <p:sp>
        <p:nvSpPr>
          <p:cNvPr id="3" name="Espace réservé du contenu 2">
            <a:extLst>
              <a:ext uri="{FF2B5EF4-FFF2-40B4-BE49-F238E27FC236}">
                <a16:creationId xmlns:a16="http://schemas.microsoft.com/office/drawing/2014/main" id="{C6F266B5-03A7-9A5C-0A16-3CD5B8FE4B16}"/>
              </a:ext>
            </a:extLst>
          </p:cNvPr>
          <p:cNvSpPr>
            <a:spLocks noGrp="1"/>
          </p:cNvSpPr>
          <p:nvPr>
            <p:ph idx="1"/>
          </p:nvPr>
        </p:nvSpPr>
        <p:spPr>
          <a:xfrm>
            <a:off x="685800" y="2918691"/>
            <a:ext cx="10820400" cy="2052718"/>
          </a:xfrm>
        </p:spPr>
        <p:txBody>
          <a:bodyPr>
            <a:normAutofit/>
          </a:bodyPr>
          <a:lstStyle/>
          <a:p>
            <a:r>
              <a:rPr lang="fr-FR" sz="2000" dirty="0"/>
              <a:t>Le projet </a:t>
            </a:r>
            <a:r>
              <a:rPr lang="fr-FR" sz="2000" b="1" dirty="0"/>
              <a:t>TPE7</a:t>
            </a:r>
            <a:r>
              <a:rPr lang="fr-FR" sz="2000" dirty="0"/>
              <a:t> consiste à concevoir et implémenter une solution de stockage immuable sur Amazon S3. L'objectif est de transformer un simple espace de stockage en un système de sauvegarde résilient capable de conserver l'historique des modifications et de survivre à des erreurs de manipulation (suppression ou écrasement).</a:t>
            </a:r>
          </a:p>
        </p:txBody>
      </p:sp>
    </p:spTree>
    <p:extLst>
      <p:ext uri="{BB962C8B-B14F-4D97-AF65-F5344CB8AC3E}">
        <p14:creationId xmlns:p14="http://schemas.microsoft.com/office/powerpoint/2010/main" val="3925560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A053DA-EBDE-589A-10EB-0165F8C03EB0}"/>
              </a:ext>
            </a:extLst>
          </p:cNvPr>
          <p:cNvSpPr>
            <a:spLocks noGrp="1"/>
          </p:cNvSpPr>
          <p:nvPr>
            <p:ph type="ctrTitle"/>
          </p:nvPr>
        </p:nvSpPr>
        <p:spPr>
          <a:xfrm>
            <a:off x="1371600" y="1"/>
            <a:ext cx="9448800" cy="1126836"/>
          </a:xfrm>
        </p:spPr>
        <p:txBody>
          <a:bodyPr/>
          <a:lstStyle/>
          <a:p>
            <a:r>
              <a:rPr lang="fr-FR" b="1" u="sng" dirty="0"/>
              <a:t>Glossaire </a:t>
            </a:r>
          </a:p>
        </p:txBody>
      </p:sp>
      <p:sp>
        <p:nvSpPr>
          <p:cNvPr id="3" name="Sous-titre 2">
            <a:extLst>
              <a:ext uri="{FF2B5EF4-FFF2-40B4-BE49-F238E27FC236}">
                <a16:creationId xmlns:a16="http://schemas.microsoft.com/office/drawing/2014/main" id="{EB5EE668-875B-2408-2734-A065BB709946}"/>
              </a:ext>
            </a:extLst>
          </p:cNvPr>
          <p:cNvSpPr>
            <a:spLocks noGrp="1"/>
          </p:cNvSpPr>
          <p:nvPr>
            <p:ph type="subTitle" idx="1"/>
          </p:nvPr>
        </p:nvSpPr>
        <p:spPr>
          <a:xfrm>
            <a:off x="1371600" y="1339273"/>
            <a:ext cx="9448800" cy="5394036"/>
          </a:xfrm>
        </p:spPr>
        <p:txBody>
          <a:bodyPr>
            <a:normAutofit fontScale="40000" lnSpcReduction="20000"/>
          </a:bodyPr>
          <a:lstStyle/>
          <a:p>
            <a:r>
              <a:rPr lang="fr-FR" sz="3400" b="1" u="sng" dirty="0"/>
              <a:t>AWS</a:t>
            </a:r>
            <a:r>
              <a:rPr lang="fr-FR" sz="3400" b="1" dirty="0"/>
              <a:t> : PLATEFORME CLOUD FOURNISSANT L'INFRASTRUCTURE DE STOCKAGE.</a:t>
            </a:r>
          </a:p>
          <a:p>
            <a:endParaRPr lang="fr-FR" sz="3400" b="1" dirty="0"/>
          </a:p>
          <a:p>
            <a:r>
              <a:rPr lang="fr-FR" sz="3400" b="1" u="sng" dirty="0"/>
              <a:t>S3 (SIMPLE STORAGE SERVICE</a:t>
            </a:r>
            <a:r>
              <a:rPr lang="fr-FR" sz="3400" b="1" dirty="0"/>
              <a:t>) : SERVICE DE STOCKAGE D'OBJETS HAUTEMENT DISPONIBLE.</a:t>
            </a:r>
          </a:p>
          <a:p>
            <a:endParaRPr lang="fr-FR" sz="3400" b="1" dirty="0"/>
          </a:p>
          <a:p>
            <a:r>
              <a:rPr lang="fr-FR" sz="3400" b="1" u="sng" dirty="0"/>
              <a:t>BUCKET (COMPARTIMENT</a:t>
            </a:r>
            <a:r>
              <a:rPr lang="fr-FR" sz="3400" b="1" dirty="0"/>
              <a:t>) : CONTENEUR LOGIQUE POUR LE STOCKAGE DES FICHIERS.</a:t>
            </a:r>
          </a:p>
          <a:p>
            <a:endParaRPr lang="fr-FR" sz="3400" b="1" dirty="0"/>
          </a:p>
          <a:p>
            <a:r>
              <a:rPr lang="fr-FR" sz="3400" b="1" u="sng" dirty="0"/>
              <a:t>OBJET : </a:t>
            </a:r>
            <a:r>
              <a:rPr lang="fr-FR" sz="3400" b="1" dirty="0"/>
              <a:t>UNITÉ DE DONNÉE (FICHIER) STOCKÉE DANS LE CLOUD.</a:t>
            </a:r>
          </a:p>
          <a:p>
            <a:endParaRPr lang="fr-FR" sz="3400" b="1" dirty="0"/>
          </a:p>
          <a:p>
            <a:r>
              <a:rPr lang="fr-FR" sz="3400" b="1" u="sng" dirty="0"/>
              <a:t>VERSIONNING</a:t>
            </a:r>
            <a:r>
              <a:rPr lang="fr-FR" sz="3400" b="1" dirty="0"/>
              <a:t> : MÉCANISME DE CONSERVATION DES VARIANTES D'UN OBJET.</a:t>
            </a:r>
          </a:p>
          <a:p>
            <a:endParaRPr lang="fr-FR" sz="3400" b="1" dirty="0"/>
          </a:p>
          <a:p>
            <a:r>
              <a:rPr lang="fr-FR" sz="3400" b="1" u="sng" dirty="0"/>
              <a:t>VERSION ID </a:t>
            </a:r>
            <a:r>
              <a:rPr lang="fr-FR" sz="3400" b="1" dirty="0"/>
              <a:t>: IDENTIFIANT UNIQUE ATTRIBUÉ À CHAQUE RÉVISION D'UN FICHIER.</a:t>
            </a:r>
          </a:p>
          <a:p>
            <a:endParaRPr lang="fr-FR" sz="3400" b="1" dirty="0"/>
          </a:p>
          <a:p>
            <a:r>
              <a:rPr lang="fr-FR" sz="3400" b="1" u="sng" dirty="0"/>
              <a:t>DELETE MARKER </a:t>
            </a:r>
            <a:r>
              <a:rPr lang="fr-FR" sz="3400" b="1" dirty="0"/>
              <a:t>: MARQUEUR POSÉ LORS D'UNE SUPPRESSION POUR MASQUER L'OBJET SANS L'EFFACER.</a:t>
            </a:r>
          </a:p>
          <a:p>
            <a:endParaRPr lang="fr-FR" sz="3400" b="1" dirty="0"/>
          </a:p>
          <a:p>
            <a:r>
              <a:rPr lang="fr-FR" sz="3400" b="1" u="sng" dirty="0"/>
              <a:t>RESTAURATION</a:t>
            </a:r>
            <a:r>
              <a:rPr lang="fr-FR" sz="3400" b="1" dirty="0"/>
              <a:t> : ACTION DE RÉCUPÉRER UN FICHIER EN SUPPRIMANT SON MARQUEUR DE</a:t>
            </a:r>
          </a:p>
          <a:p>
            <a:r>
              <a:rPr lang="fr-FR" sz="3400" b="1" dirty="0"/>
              <a:t> SUPPRESSION.</a:t>
            </a:r>
          </a:p>
          <a:p>
            <a:endParaRPr lang="fr-FR" sz="3400" b="1" dirty="0"/>
          </a:p>
          <a:p>
            <a:r>
              <a:rPr lang="fr-FR" sz="3400" b="1" dirty="0"/>
              <a:t>I</a:t>
            </a:r>
            <a:r>
              <a:rPr lang="fr-FR" sz="3400" b="1" u="sng" dirty="0"/>
              <a:t>MMUABILITÉ</a:t>
            </a:r>
            <a:r>
              <a:rPr lang="fr-FR" sz="3400" b="1" dirty="0"/>
              <a:t> : GARANTIE QUE LES DONNÉES PASSÉES NE PEUVENT PAS ÊTRE ÉCRASÉES</a:t>
            </a:r>
            <a:r>
              <a:rPr lang="fr-FR" sz="3400" dirty="0"/>
              <a:t>.</a:t>
            </a:r>
          </a:p>
          <a:p>
            <a:endParaRPr lang="fr-FR" dirty="0"/>
          </a:p>
        </p:txBody>
      </p:sp>
    </p:spTree>
    <p:extLst>
      <p:ext uri="{BB962C8B-B14F-4D97-AF65-F5344CB8AC3E}">
        <p14:creationId xmlns:p14="http://schemas.microsoft.com/office/powerpoint/2010/main" val="371324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F73905-87FA-2071-A655-A29A4743CED7}"/>
              </a:ext>
            </a:extLst>
          </p:cNvPr>
          <p:cNvSpPr>
            <a:spLocks noGrp="1"/>
          </p:cNvSpPr>
          <p:nvPr>
            <p:ph type="title"/>
          </p:nvPr>
        </p:nvSpPr>
        <p:spPr>
          <a:xfrm>
            <a:off x="2895600" y="1376217"/>
            <a:ext cx="8610600" cy="681183"/>
          </a:xfrm>
        </p:spPr>
        <p:txBody>
          <a:bodyPr>
            <a:normAutofit fontScale="90000"/>
          </a:bodyPr>
          <a:lstStyle/>
          <a:p>
            <a:pPr algn="ctr"/>
            <a:r>
              <a:rPr lang="fr-FR" dirty="0"/>
              <a:t>1.</a:t>
            </a:r>
            <a:r>
              <a:rPr lang="fr-FR" b="1" u="sng" dirty="0"/>
              <a:t>Introduction</a:t>
            </a:r>
            <a:br>
              <a:rPr lang="fr-FR" b="1" u="sng" dirty="0"/>
            </a:br>
            <a:br>
              <a:rPr lang="fr-FR" b="1" u="sng" dirty="0"/>
            </a:br>
            <a:r>
              <a:rPr lang="fr-FR" sz="2200" i="1" dirty="0"/>
              <a:t>L’image représente la page d’accueil pour gérer services cloud AWS</a:t>
            </a:r>
            <a:r>
              <a:rPr lang="fr-FR" dirty="0"/>
              <a:t>.</a:t>
            </a:r>
            <a:br>
              <a:rPr lang="fr-FR" dirty="0"/>
            </a:br>
            <a:br>
              <a:rPr lang="fr-FR" b="1" u="sng" dirty="0"/>
            </a:br>
            <a:endParaRPr lang="fr-FR" b="1" u="sng" dirty="0"/>
          </a:p>
        </p:txBody>
      </p:sp>
      <p:pic>
        <p:nvPicPr>
          <p:cNvPr id="4" name="Espace réservé du contenu 9">
            <a:extLst>
              <a:ext uri="{FF2B5EF4-FFF2-40B4-BE49-F238E27FC236}">
                <a16:creationId xmlns:a16="http://schemas.microsoft.com/office/drawing/2014/main" id="{171B943B-4A05-52E8-58B6-BDD34579F450}"/>
              </a:ext>
            </a:extLst>
          </p:cNvPr>
          <p:cNvPicPr>
            <a:picLocks noGrp="1" noChangeAspect="1"/>
          </p:cNvPicPr>
          <p:nvPr>
            <p:ph idx="1"/>
          </p:nvPr>
        </p:nvPicPr>
        <p:blipFill>
          <a:blip r:embed="rId2"/>
          <a:stretch>
            <a:fillRect/>
          </a:stretch>
        </p:blipFill>
        <p:spPr>
          <a:xfrm>
            <a:off x="2230966" y="2193925"/>
            <a:ext cx="7730068" cy="4234584"/>
          </a:xfrm>
          <a:prstGeom prst="rect">
            <a:avLst/>
          </a:prstGeom>
        </p:spPr>
      </p:pic>
    </p:spTree>
    <p:extLst>
      <p:ext uri="{BB962C8B-B14F-4D97-AF65-F5344CB8AC3E}">
        <p14:creationId xmlns:p14="http://schemas.microsoft.com/office/powerpoint/2010/main" val="1830948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BFF4EE-E552-2E57-5902-5AA8BBAA43F1}"/>
              </a:ext>
            </a:extLst>
          </p:cNvPr>
          <p:cNvSpPr>
            <a:spLocks noGrp="1"/>
          </p:cNvSpPr>
          <p:nvPr>
            <p:ph type="title"/>
          </p:nvPr>
        </p:nvSpPr>
        <p:spPr>
          <a:xfrm>
            <a:off x="2895600" y="1052945"/>
            <a:ext cx="8610600" cy="45719"/>
          </a:xfrm>
        </p:spPr>
        <p:txBody>
          <a:bodyPr>
            <a:normAutofit fontScale="90000"/>
          </a:bodyPr>
          <a:lstStyle/>
          <a:p>
            <a:pPr marL="571500" indent="-571500" algn="ctr">
              <a:buFont typeface="Arial" panose="020B0604020202020204" pitchFamily="34" charset="0"/>
              <a:buChar char="•"/>
            </a:pPr>
            <a:r>
              <a:rPr lang="fr-FR" sz="3600" b="1" u="sng" dirty="0"/>
              <a:t>Accès et Initialisation du Service S3</a:t>
            </a:r>
            <a:br>
              <a:rPr lang="fr-FR" dirty="0"/>
            </a:br>
            <a:br>
              <a:rPr lang="fr-FR" dirty="0"/>
            </a:br>
            <a:r>
              <a:rPr lang="fr-FR" sz="2200" dirty="0"/>
              <a:t>Cette étape établit le point d'entrée sécurisé pour centraliser et administrer l'ensemble de l'infrastructure de sauvegarde</a:t>
            </a:r>
            <a:r>
              <a:rPr lang="fr-FR" dirty="0"/>
              <a:t>.</a:t>
            </a:r>
          </a:p>
        </p:txBody>
      </p:sp>
      <p:pic>
        <p:nvPicPr>
          <p:cNvPr id="5" name="Espace réservé du contenu 4">
            <a:extLst>
              <a:ext uri="{FF2B5EF4-FFF2-40B4-BE49-F238E27FC236}">
                <a16:creationId xmlns:a16="http://schemas.microsoft.com/office/drawing/2014/main" id="{589C020D-5239-8A29-BB6D-454A5C76ADA1}"/>
              </a:ext>
            </a:extLst>
          </p:cNvPr>
          <p:cNvPicPr>
            <a:picLocks noGrp="1" noChangeAspect="1"/>
          </p:cNvPicPr>
          <p:nvPr>
            <p:ph idx="1"/>
          </p:nvPr>
        </p:nvPicPr>
        <p:blipFill>
          <a:blip r:embed="rId2"/>
          <a:stretch>
            <a:fillRect/>
          </a:stretch>
        </p:blipFill>
        <p:spPr>
          <a:xfrm>
            <a:off x="1725706" y="2203162"/>
            <a:ext cx="8740588" cy="4068792"/>
          </a:xfrm>
          <a:prstGeom prst="rect">
            <a:avLst/>
          </a:prstGeom>
        </p:spPr>
      </p:pic>
      <p:sp>
        <p:nvSpPr>
          <p:cNvPr id="6" name="Ellipse 5">
            <a:extLst>
              <a:ext uri="{FF2B5EF4-FFF2-40B4-BE49-F238E27FC236}">
                <a16:creationId xmlns:a16="http://schemas.microsoft.com/office/drawing/2014/main" id="{A3573E13-2DFC-653A-D384-B7E83EBB6A6E}"/>
              </a:ext>
            </a:extLst>
          </p:cNvPr>
          <p:cNvSpPr/>
          <p:nvPr/>
        </p:nvSpPr>
        <p:spPr>
          <a:xfrm>
            <a:off x="4221018" y="2854036"/>
            <a:ext cx="2401455" cy="683491"/>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81969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59C026-6F0B-D4D3-2F50-F1320694DBFB}"/>
              </a:ext>
            </a:extLst>
          </p:cNvPr>
          <p:cNvSpPr>
            <a:spLocks noGrp="1"/>
          </p:cNvSpPr>
          <p:nvPr>
            <p:ph type="title"/>
          </p:nvPr>
        </p:nvSpPr>
        <p:spPr/>
        <p:txBody>
          <a:bodyPr>
            <a:normAutofit fontScale="90000"/>
          </a:bodyPr>
          <a:lstStyle/>
          <a:p>
            <a:r>
              <a:rPr lang="fr-FR" dirty="0"/>
              <a:t>2. </a:t>
            </a:r>
            <a:r>
              <a:rPr lang="fr-FR" sz="3200" b="1" u="sng" dirty="0"/>
              <a:t>Provisionnement du </a:t>
            </a:r>
            <a:r>
              <a:rPr lang="fr-FR" sz="3200" b="1" u="sng" dirty="0" err="1"/>
              <a:t>bucket</a:t>
            </a:r>
            <a:br>
              <a:rPr lang="fr-FR" sz="3200" dirty="0"/>
            </a:br>
            <a:br>
              <a:rPr lang="fr-FR" sz="3200" dirty="0"/>
            </a:br>
            <a:r>
              <a:rPr lang="fr-FR" sz="2200" dirty="0"/>
              <a:t>Création du compartiment S3 avec un nom unique</a:t>
            </a:r>
          </a:p>
        </p:txBody>
      </p:sp>
      <p:pic>
        <p:nvPicPr>
          <p:cNvPr id="5" name="Espace réservé du contenu 4">
            <a:extLst>
              <a:ext uri="{FF2B5EF4-FFF2-40B4-BE49-F238E27FC236}">
                <a16:creationId xmlns:a16="http://schemas.microsoft.com/office/drawing/2014/main" id="{9546258B-7287-15F4-5C1F-CDE7EEB20163}"/>
              </a:ext>
            </a:extLst>
          </p:cNvPr>
          <p:cNvPicPr>
            <a:picLocks noGrp="1" noChangeAspect="1"/>
          </p:cNvPicPr>
          <p:nvPr>
            <p:ph idx="1"/>
          </p:nvPr>
        </p:nvPicPr>
        <p:blipFill>
          <a:blip r:embed="rId2"/>
          <a:stretch>
            <a:fillRect/>
          </a:stretch>
        </p:blipFill>
        <p:spPr>
          <a:xfrm>
            <a:off x="1690254" y="2098965"/>
            <a:ext cx="9448801" cy="4222136"/>
          </a:xfrm>
          <a:prstGeom prst="rect">
            <a:avLst/>
          </a:prstGeom>
        </p:spPr>
      </p:pic>
      <p:sp>
        <p:nvSpPr>
          <p:cNvPr id="6" name="Ellipse 5">
            <a:extLst>
              <a:ext uri="{FF2B5EF4-FFF2-40B4-BE49-F238E27FC236}">
                <a16:creationId xmlns:a16="http://schemas.microsoft.com/office/drawing/2014/main" id="{3DC5E2A5-F5D5-971B-C6F1-FEF0B5CA0F42}"/>
              </a:ext>
            </a:extLst>
          </p:cNvPr>
          <p:cNvSpPr/>
          <p:nvPr/>
        </p:nvSpPr>
        <p:spPr>
          <a:xfrm>
            <a:off x="7173191" y="4932217"/>
            <a:ext cx="1961573" cy="535709"/>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60131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6345AB-DAD0-6895-EB05-D4B84FDAA136}"/>
              </a:ext>
            </a:extLst>
          </p:cNvPr>
          <p:cNvSpPr>
            <a:spLocks noGrp="1"/>
          </p:cNvSpPr>
          <p:nvPr>
            <p:ph type="title"/>
          </p:nvPr>
        </p:nvSpPr>
        <p:spPr>
          <a:xfrm>
            <a:off x="2895600" y="2199736"/>
            <a:ext cx="8610600" cy="293298"/>
          </a:xfrm>
        </p:spPr>
        <p:txBody>
          <a:bodyPr>
            <a:normAutofit fontScale="90000"/>
          </a:bodyPr>
          <a:lstStyle/>
          <a:p>
            <a:pPr marL="571500" indent="-571500" algn="l">
              <a:buFont typeface="Arial" panose="020B0604020202020204" pitchFamily="34" charset="0"/>
              <a:buChar char="•"/>
            </a:pPr>
            <a:r>
              <a:rPr lang="fr-FR" sz="3200" b="1" u="sng" dirty="0"/>
              <a:t>Configuration du Versioning de Compartiment</a:t>
            </a:r>
            <a:br>
              <a:rPr lang="fr-FR" sz="3200" b="1" u="sng" dirty="0"/>
            </a:br>
            <a:br>
              <a:rPr lang="fr-FR" sz="3200" b="1" u="sng" dirty="0"/>
            </a:br>
            <a:br>
              <a:rPr lang="fr-FR" sz="3200" b="1" u="sng" dirty="0"/>
            </a:br>
            <a:br>
              <a:rPr lang="fr-FR" sz="3200" b="1" u="sng" dirty="0"/>
            </a:br>
            <a:br>
              <a:rPr lang="fr-FR" sz="3200" b="1" u="sng" dirty="0"/>
            </a:br>
            <a:r>
              <a:rPr lang="fr-FR" sz="2200" dirty="0"/>
              <a:t>L'activation du versioning permet de transformer le stockage passif en un système de </a:t>
            </a:r>
            <a:r>
              <a:rPr lang="fr-FR" sz="2200" b="1" dirty="0"/>
              <a:t>protection active</a:t>
            </a:r>
            <a:r>
              <a:rPr lang="fr-FR" sz="2200" dirty="0"/>
              <a:t>, capable de conserver l'historique de chaque objet</a:t>
            </a:r>
            <a:br>
              <a:rPr lang="fr-FR" sz="2200" dirty="0"/>
            </a:br>
            <a:r>
              <a:rPr lang="fr-FR" sz="2200" dirty="0"/>
              <a:t>pour prévenir toute perte de données définitive</a:t>
            </a:r>
            <a:r>
              <a:rPr lang="fr-FR" sz="3200" dirty="0"/>
              <a:t>.</a:t>
            </a:r>
            <a:endParaRPr lang="fr-FR" sz="3200" b="1" u="sng" dirty="0"/>
          </a:p>
        </p:txBody>
      </p:sp>
      <p:pic>
        <p:nvPicPr>
          <p:cNvPr id="5" name="Espace réservé du contenu 4">
            <a:extLst>
              <a:ext uri="{FF2B5EF4-FFF2-40B4-BE49-F238E27FC236}">
                <a16:creationId xmlns:a16="http://schemas.microsoft.com/office/drawing/2014/main" id="{E9452072-D464-4238-03E6-1644FF5395FD}"/>
              </a:ext>
            </a:extLst>
          </p:cNvPr>
          <p:cNvPicPr>
            <a:picLocks noGrp="1" noChangeAspect="1"/>
          </p:cNvPicPr>
          <p:nvPr>
            <p:ph idx="1"/>
          </p:nvPr>
        </p:nvPicPr>
        <p:blipFill>
          <a:blip r:embed="rId2"/>
          <a:stretch>
            <a:fillRect/>
          </a:stretch>
        </p:blipFill>
        <p:spPr>
          <a:xfrm>
            <a:off x="685800" y="4572000"/>
            <a:ext cx="10820400" cy="1893454"/>
          </a:xfrm>
          <a:prstGeom prst="rect">
            <a:avLst/>
          </a:prstGeom>
        </p:spPr>
      </p:pic>
      <p:sp>
        <p:nvSpPr>
          <p:cNvPr id="6" name="Ellipse 5">
            <a:extLst>
              <a:ext uri="{FF2B5EF4-FFF2-40B4-BE49-F238E27FC236}">
                <a16:creationId xmlns:a16="http://schemas.microsoft.com/office/drawing/2014/main" id="{7485534F-0EDB-0F88-670A-2D72155D4829}"/>
              </a:ext>
            </a:extLst>
          </p:cNvPr>
          <p:cNvSpPr/>
          <p:nvPr/>
        </p:nvSpPr>
        <p:spPr>
          <a:xfrm>
            <a:off x="572656" y="6059055"/>
            <a:ext cx="1136072" cy="286327"/>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860090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5BEF06-4617-7492-FF9F-C30581F8CBBA}"/>
              </a:ext>
            </a:extLst>
          </p:cNvPr>
          <p:cNvSpPr>
            <a:spLocks noGrp="1"/>
          </p:cNvSpPr>
          <p:nvPr>
            <p:ph type="title"/>
          </p:nvPr>
        </p:nvSpPr>
        <p:spPr>
          <a:xfrm>
            <a:off x="2895600" y="258793"/>
            <a:ext cx="8610600" cy="1708030"/>
          </a:xfrm>
        </p:spPr>
        <p:txBody>
          <a:bodyPr>
            <a:normAutofit fontScale="90000"/>
          </a:bodyPr>
          <a:lstStyle/>
          <a:p>
            <a:pPr marL="457200" indent="-457200">
              <a:buFont typeface="Arial" panose="020B0604020202020204" pitchFamily="34" charset="0"/>
              <a:buChar char="•"/>
            </a:pPr>
            <a:r>
              <a:rPr lang="fr-FR" sz="2800" b="1" u="sng" dirty="0"/>
              <a:t>CRÉATION ET NOMMAGE DU COMPARTIMENT S3</a:t>
            </a:r>
            <a:br>
              <a:rPr lang="fr-FR" sz="2800" b="1" u="sng" dirty="0"/>
            </a:br>
            <a:br>
              <a:rPr lang="fr-FR" sz="2800" b="1" u="sng" dirty="0"/>
            </a:br>
            <a:r>
              <a:rPr lang="fr-FR" sz="2200" dirty="0"/>
              <a:t>CETTE ÉTAPE PERMET DE DÉFINIR UN ESPACE DE STOCKAGE UNIQUE  ET RÉGIONALISÉ (US-EAST-2) DÉDIÉ EXCLUSIVEMENT AUX FLUX DE SAUVEGARDE DU PROJET</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45215560-2138-A1A1-5E95-11F301DEE600}"/>
              </a:ext>
            </a:extLst>
          </p:cNvPr>
          <p:cNvPicPr>
            <a:picLocks noGrp="1" noChangeAspect="1"/>
          </p:cNvPicPr>
          <p:nvPr>
            <p:ph idx="1"/>
          </p:nvPr>
        </p:nvPicPr>
        <p:blipFill>
          <a:blip r:embed="rId2"/>
          <a:stretch>
            <a:fillRect/>
          </a:stretch>
        </p:blipFill>
        <p:spPr>
          <a:xfrm>
            <a:off x="1488453" y="2193925"/>
            <a:ext cx="9215094" cy="4024313"/>
          </a:xfrm>
          <a:prstGeom prst="rect">
            <a:avLst/>
          </a:prstGeom>
        </p:spPr>
      </p:pic>
      <p:sp>
        <p:nvSpPr>
          <p:cNvPr id="6" name="Ellipse 5">
            <a:extLst>
              <a:ext uri="{FF2B5EF4-FFF2-40B4-BE49-F238E27FC236}">
                <a16:creationId xmlns:a16="http://schemas.microsoft.com/office/drawing/2014/main" id="{29392ED0-1673-682D-B7F5-0BBE3BF7DA61}"/>
              </a:ext>
            </a:extLst>
          </p:cNvPr>
          <p:cNvSpPr/>
          <p:nvPr/>
        </p:nvSpPr>
        <p:spPr>
          <a:xfrm>
            <a:off x="1380226" y="4632385"/>
            <a:ext cx="2751827" cy="672860"/>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39654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2D5B10-BAD1-CE11-BE7D-68D935EE5A4E}"/>
              </a:ext>
            </a:extLst>
          </p:cNvPr>
          <p:cNvSpPr>
            <a:spLocks noGrp="1"/>
          </p:cNvSpPr>
          <p:nvPr>
            <p:ph type="title"/>
          </p:nvPr>
        </p:nvSpPr>
        <p:spPr>
          <a:xfrm>
            <a:off x="2895600" y="483079"/>
            <a:ext cx="8610600" cy="1518248"/>
          </a:xfrm>
        </p:spPr>
        <p:txBody>
          <a:bodyPr>
            <a:normAutofit fontScale="90000"/>
          </a:bodyPr>
          <a:lstStyle/>
          <a:p>
            <a:pPr marL="457200" indent="-457200">
              <a:buFont typeface="Arial" panose="020B0604020202020204" pitchFamily="34" charset="0"/>
              <a:buChar char="•"/>
            </a:pPr>
            <a:r>
              <a:rPr lang="fr-FR" sz="2800" b="1" u="sng" dirty="0"/>
              <a:t>CONFIGURATION DU CHIFFREMENT DES DONNÉES</a:t>
            </a:r>
            <a:br>
              <a:rPr lang="fr-FR" sz="2800" b="1" u="sng" dirty="0"/>
            </a:br>
            <a:br>
              <a:rPr lang="fr-FR" sz="2800" b="1" u="sng" dirty="0"/>
            </a:br>
            <a:r>
              <a:rPr lang="fr-FR" sz="2000" dirty="0"/>
              <a:t>L'ACTIVATION DU CHIFFREMENT CÔTÉ SERVEUR (SSE-S3) GARANTIT LA CONFIDENTIALITÉ DES DONNÉES AU REPOS, RÉPONDANT AINSI AUX EXIGENCES DE SÉCURITÉ DU PROJET TPE7</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A387D511-4C50-A50D-BA9C-AAE5131FE2A7}"/>
              </a:ext>
            </a:extLst>
          </p:cNvPr>
          <p:cNvPicPr>
            <a:picLocks noGrp="1" noChangeAspect="1"/>
          </p:cNvPicPr>
          <p:nvPr>
            <p:ph idx="1"/>
          </p:nvPr>
        </p:nvPicPr>
        <p:blipFill>
          <a:blip r:embed="rId2"/>
          <a:stretch>
            <a:fillRect/>
          </a:stretch>
        </p:blipFill>
        <p:spPr>
          <a:xfrm>
            <a:off x="685800" y="2661987"/>
            <a:ext cx="10820400" cy="3088188"/>
          </a:xfrm>
          <a:prstGeom prst="rect">
            <a:avLst/>
          </a:prstGeom>
        </p:spPr>
      </p:pic>
      <p:sp>
        <p:nvSpPr>
          <p:cNvPr id="6" name="Ellipse 5">
            <a:extLst>
              <a:ext uri="{FF2B5EF4-FFF2-40B4-BE49-F238E27FC236}">
                <a16:creationId xmlns:a16="http://schemas.microsoft.com/office/drawing/2014/main" id="{34BB865C-0447-F195-430E-14289CF1337E}"/>
              </a:ext>
            </a:extLst>
          </p:cNvPr>
          <p:cNvSpPr/>
          <p:nvPr/>
        </p:nvSpPr>
        <p:spPr>
          <a:xfrm>
            <a:off x="713117" y="3735237"/>
            <a:ext cx="4364966" cy="310551"/>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6B7BB407-E4BE-FA2D-BCD2-B35FA83FC81C}"/>
              </a:ext>
            </a:extLst>
          </p:cNvPr>
          <p:cNvSpPr/>
          <p:nvPr/>
        </p:nvSpPr>
        <p:spPr>
          <a:xfrm>
            <a:off x="819509" y="5244860"/>
            <a:ext cx="888521" cy="310551"/>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12775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FF5B8A-7ED0-5AA5-1FE3-88BC02CD1A54}"/>
              </a:ext>
            </a:extLst>
          </p:cNvPr>
          <p:cNvSpPr>
            <a:spLocks noGrp="1"/>
          </p:cNvSpPr>
          <p:nvPr>
            <p:ph type="title"/>
          </p:nvPr>
        </p:nvSpPr>
        <p:spPr>
          <a:xfrm>
            <a:off x="2938732" y="646618"/>
            <a:ext cx="8610600" cy="1785667"/>
          </a:xfrm>
        </p:spPr>
        <p:txBody>
          <a:bodyPr>
            <a:normAutofit fontScale="90000"/>
          </a:bodyPr>
          <a:lstStyle/>
          <a:p>
            <a:pPr marL="457200" indent="-457200">
              <a:buFont typeface="Arial" panose="020B0604020202020204" pitchFamily="34" charset="0"/>
              <a:buChar char="•"/>
            </a:pPr>
            <a:r>
              <a:rPr lang="fr-FR" sz="2800" b="1" u="sng" dirty="0"/>
              <a:t>GESTION DES DROITS D'ACCÈS (ACL)</a:t>
            </a:r>
            <a:br>
              <a:rPr lang="fr-FR" sz="2800" b="1" u="sng" dirty="0"/>
            </a:br>
            <a:br>
              <a:rPr lang="fr-FR" sz="2800" dirty="0"/>
            </a:br>
            <a:r>
              <a:rPr lang="fr-FR" sz="2000" dirty="0"/>
              <a:t>LA DÉSACTIVATION DES LISTES ACL (ACCÈS CONTRÔLÉ PAR POLITIQUES) RENFORCE LA SÉCURITÉ EN CENTRALISANT LE CONTRÔLE DES ACCÈS VIA IAM, ÉVITANT AINSI TOUTE EXPOSITION ACCIDENTELLE DES DONNÉES.</a:t>
            </a:r>
          </a:p>
        </p:txBody>
      </p:sp>
      <p:pic>
        <p:nvPicPr>
          <p:cNvPr id="5" name="Espace réservé du contenu 4">
            <a:extLst>
              <a:ext uri="{FF2B5EF4-FFF2-40B4-BE49-F238E27FC236}">
                <a16:creationId xmlns:a16="http://schemas.microsoft.com/office/drawing/2014/main" id="{ECAF3A76-5C04-B01C-18B8-AE31C7E494AF}"/>
              </a:ext>
            </a:extLst>
          </p:cNvPr>
          <p:cNvPicPr>
            <a:picLocks noGrp="1" noChangeAspect="1"/>
          </p:cNvPicPr>
          <p:nvPr>
            <p:ph idx="1"/>
          </p:nvPr>
        </p:nvPicPr>
        <p:blipFill>
          <a:blip r:embed="rId2"/>
          <a:stretch>
            <a:fillRect/>
          </a:stretch>
        </p:blipFill>
        <p:spPr>
          <a:xfrm>
            <a:off x="828136" y="2929863"/>
            <a:ext cx="10820400" cy="2673206"/>
          </a:xfrm>
          <a:prstGeom prst="rect">
            <a:avLst/>
          </a:prstGeom>
        </p:spPr>
      </p:pic>
      <p:sp>
        <p:nvSpPr>
          <p:cNvPr id="6" name="Ellipse 5">
            <a:extLst>
              <a:ext uri="{FF2B5EF4-FFF2-40B4-BE49-F238E27FC236}">
                <a16:creationId xmlns:a16="http://schemas.microsoft.com/office/drawing/2014/main" id="{ED23B9A8-2F86-12DE-E16E-728A8B1FEC6D}"/>
              </a:ext>
            </a:extLst>
          </p:cNvPr>
          <p:cNvSpPr/>
          <p:nvPr/>
        </p:nvSpPr>
        <p:spPr>
          <a:xfrm>
            <a:off x="336430" y="3925019"/>
            <a:ext cx="4270076" cy="1026543"/>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09992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651C0D-59E5-8DA3-47E2-A605FA9378F9}"/>
              </a:ext>
            </a:extLst>
          </p:cNvPr>
          <p:cNvSpPr>
            <a:spLocks noGrp="1"/>
          </p:cNvSpPr>
          <p:nvPr>
            <p:ph type="title"/>
          </p:nvPr>
        </p:nvSpPr>
        <p:spPr>
          <a:xfrm>
            <a:off x="2895600" y="577969"/>
            <a:ext cx="8610600" cy="2129081"/>
          </a:xfrm>
        </p:spPr>
        <p:txBody>
          <a:bodyPr>
            <a:normAutofit fontScale="90000"/>
          </a:bodyPr>
          <a:lstStyle/>
          <a:p>
            <a:pPr marL="457200" indent="-457200">
              <a:buFont typeface="Arial" panose="020B0604020202020204" pitchFamily="34" charset="0"/>
              <a:buChar char="•"/>
            </a:pPr>
            <a:r>
              <a:rPr lang="fr-FR" sz="2800" b="1" u="sng" dirty="0"/>
              <a:t>FINALISATION ET DÉPLOIEMENT DU COMPARTIMENT</a:t>
            </a:r>
            <a:br>
              <a:rPr lang="fr-FR" sz="2800" b="1" u="sng" dirty="0"/>
            </a:br>
            <a:br>
              <a:rPr lang="fr-FR" sz="2800" b="1" u="sng" dirty="0"/>
            </a:br>
            <a:r>
              <a:rPr lang="fr-FR" sz="2000" dirty="0"/>
              <a:t>LA VALIDATION FINALE DÉCLENCHE LE PROVISIONNEMENT DES RESSOURCES SUR L'INFRASTRUCTURE AWS, RENDANT LE SYSTÈME PRÊT À ACCUEILLIR LES PREMIERS FLUX DE SAUVEGARDE SÉCURISÉE</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A52A9466-088B-5C86-76A9-E7CAE575644E}"/>
              </a:ext>
            </a:extLst>
          </p:cNvPr>
          <p:cNvPicPr>
            <a:picLocks noGrp="1" noChangeAspect="1"/>
          </p:cNvPicPr>
          <p:nvPr>
            <p:ph idx="1"/>
          </p:nvPr>
        </p:nvPicPr>
        <p:blipFill>
          <a:blip r:embed="rId2"/>
          <a:stretch>
            <a:fillRect/>
          </a:stretch>
        </p:blipFill>
        <p:spPr>
          <a:xfrm>
            <a:off x="685800" y="3141541"/>
            <a:ext cx="10820400" cy="2129081"/>
          </a:xfrm>
          <a:prstGeom prst="rect">
            <a:avLst/>
          </a:prstGeom>
        </p:spPr>
      </p:pic>
      <p:sp>
        <p:nvSpPr>
          <p:cNvPr id="6" name="Ellipse 5">
            <a:extLst>
              <a:ext uri="{FF2B5EF4-FFF2-40B4-BE49-F238E27FC236}">
                <a16:creationId xmlns:a16="http://schemas.microsoft.com/office/drawing/2014/main" id="{3D33E265-58EF-4749-D959-0ECCA88E294A}"/>
              </a:ext>
            </a:extLst>
          </p:cNvPr>
          <p:cNvSpPr/>
          <p:nvPr/>
        </p:nvSpPr>
        <p:spPr>
          <a:xfrm>
            <a:off x="9402791" y="4468483"/>
            <a:ext cx="2103409" cy="638355"/>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3139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F11C4F-C345-E297-5D61-2128C221558F}"/>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CONFIRMATION ET VÉRIFICATION DU DÉPLOIEMENT</a:t>
            </a:r>
            <a:br>
              <a:rPr lang="fr-FR" sz="2800" b="1" u="sng" dirty="0"/>
            </a:br>
            <a:br>
              <a:rPr lang="fr-FR" sz="2800" b="1" u="sng" dirty="0"/>
            </a:br>
            <a:r>
              <a:rPr lang="fr-FR" sz="2200" dirty="0"/>
              <a:t>LE BANDEAU VERT CONFIRME QUE LA CRÉATION de notre compartiment EST validée avec succès SANS ERREUR</a:t>
            </a:r>
            <a:r>
              <a:rPr lang="fr-FR" sz="2800" dirty="0"/>
              <a:t>.</a:t>
            </a:r>
            <a:br>
              <a:rPr lang="fr-FR" sz="2800" b="1" u="sng" dirty="0"/>
            </a:br>
            <a:endParaRPr lang="fr-FR" sz="2800" b="1" u="sng" dirty="0"/>
          </a:p>
        </p:txBody>
      </p:sp>
      <p:pic>
        <p:nvPicPr>
          <p:cNvPr id="5" name="Espace réservé du contenu 4">
            <a:extLst>
              <a:ext uri="{FF2B5EF4-FFF2-40B4-BE49-F238E27FC236}">
                <a16:creationId xmlns:a16="http://schemas.microsoft.com/office/drawing/2014/main" id="{3E58889F-C4F9-0498-4CBE-9E8756BDBAE6}"/>
              </a:ext>
            </a:extLst>
          </p:cNvPr>
          <p:cNvPicPr>
            <a:picLocks noGrp="1" noChangeAspect="1"/>
          </p:cNvPicPr>
          <p:nvPr>
            <p:ph idx="1"/>
          </p:nvPr>
        </p:nvPicPr>
        <p:blipFill>
          <a:blip r:embed="rId2"/>
          <a:stretch>
            <a:fillRect/>
          </a:stretch>
        </p:blipFill>
        <p:spPr>
          <a:xfrm>
            <a:off x="1422287" y="2193925"/>
            <a:ext cx="9347426" cy="4024313"/>
          </a:xfrm>
          <a:prstGeom prst="rect">
            <a:avLst/>
          </a:prstGeom>
        </p:spPr>
      </p:pic>
      <p:sp>
        <p:nvSpPr>
          <p:cNvPr id="6" name="Ellipse 5">
            <a:extLst>
              <a:ext uri="{FF2B5EF4-FFF2-40B4-BE49-F238E27FC236}">
                <a16:creationId xmlns:a16="http://schemas.microsoft.com/office/drawing/2014/main" id="{3BE9C18E-A1B6-1E77-ECBA-525E4F10E273}"/>
              </a:ext>
            </a:extLst>
          </p:cNvPr>
          <p:cNvSpPr/>
          <p:nvPr/>
        </p:nvSpPr>
        <p:spPr>
          <a:xfrm>
            <a:off x="1357955" y="2725947"/>
            <a:ext cx="9347426" cy="810883"/>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89963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3276B7-B08C-3B8C-B02B-9348CDC14712}"/>
              </a:ext>
            </a:extLst>
          </p:cNvPr>
          <p:cNvSpPr>
            <a:spLocks noGrp="1"/>
          </p:cNvSpPr>
          <p:nvPr>
            <p:ph type="title"/>
          </p:nvPr>
        </p:nvSpPr>
        <p:spPr>
          <a:xfrm>
            <a:off x="2895600" y="1518249"/>
            <a:ext cx="8610600" cy="750498"/>
          </a:xfrm>
        </p:spPr>
        <p:txBody>
          <a:bodyPr>
            <a:normAutofit fontScale="90000"/>
          </a:bodyPr>
          <a:lstStyle/>
          <a:p>
            <a:r>
              <a:rPr lang="fr-FR" dirty="0"/>
              <a:t>3. </a:t>
            </a:r>
            <a:r>
              <a:rPr lang="fr-FR" sz="2800" b="1" u="sng" dirty="0"/>
              <a:t>Activation du </a:t>
            </a:r>
            <a:r>
              <a:rPr lang="fr-FR" sz="2800" b="1" u="sng" dirty="0" err="1"/>
              <a:t>versionning</a:t>
            </a:r>
            <a:br>
              <a:rPr lang="fr-FR" sz="2800" b="1" u="sng" dirty="0"/>
            </a:br>
            <a:br>
              <a:rPr lang="fr-FR" sz="2800" b="1" u="sng" dirty="0"/>
            </a:br>
            <a:r>
              <a:rPr lang="fr-FR" sz="2800" b="1" u="sng" dirty="0"/>
              <a:t>- </a:t>
            </a:r>
            <a:r>
              <a:rPr lang="fr-FR" sz="2000" u="sng" dirty="0"/>
              <a:t>PRÉPARATION DU JEU DE TEST POUR LE VERSIONNEMENT</a:t>
            </a:r>
            <a:br>
              <a:rPr lang="fr-FR" sz="2800" b="1" u="sng" dirty="0"/>
            </a:br>
            <a:br>
              <a:rPr lang="fr-FR" sz="2800" b="1" u="sng" dirty="0"/>
            </a:br>
            <a:r>
              <a:rPr lang="fr-FR" sz="2000" dirty="0"/>
              <a:t>AVANT D'ACTIVER LA PERSISTENCE DES DONNÉES DANS LE CLOUD, IL EST INDISPENSABLE DE PRÉPARER DES FICHIERS LOCAUX SPÉCIFIQUES POUR VALIDER QUE CHAQUE NOUVELLE VERSION GÉNÈRE BIEN UN HISTORIQUE DISTINCT</a:t>
            </a:r>
            <a:r>
              <a:rPr lang="fr-FR" sz="2800" dirty="0"/>
              <a:t>.</a:t>
            </a:r>
            <a:br>
              <a:rPr lang="fr-FR" sz="2800" dirty="0"/>
            </a:br>
            <a:r>
              <a:rPr lang="fr-FR" sz="2000" dirty="0"/>
              <a:t>J’ai créé un dossier test final avec deux fichiers test et test1</a:t>
            </a:r>
            <a:endParaRPr lang="fr-FR" sz="2000" b="1" u="sng" dirty="0"/>
          </a:p>
        </p:txBody>
      </p:sp>
      <p:pic>
        <p:nvPicPr>
          <p:cNvPr id="5" name="Espace réservé du contenu 4">
            <a:extLst>
              <a:ext uri="{FF2B5EF4-FFF2-40B4-BE49-F238E27FC236}">
                <a16:creationId xmlns:a16="http://schemas.microsoft.com/office/drawing/2014/main" id="{5200503A-E93C-85EE-81FF-75007CE306B9}"/>
              </a:ext>
            </a:extLst>
          </p:cNvPr>
          <p:cNvPicPr>
            <a:picLocks noGrp="1" noChangeAspect="1"/>
          </p:cNvPicPr>
          <p:nvPr>
            <p:ph idx="1"/>
          </p:nvPr>
        </p:nvPicPr>
        <p:blipFill>
          <a:blip r:embed="rId2"/>
          <a:stretch>
            <a:fillRect/>
          </a:stretch>
        </p:blipFill>
        <p:spPr>
          <a:xfrm>
            <a:off x="1266577" y="3562709"/>
            <a:ext cx="9658846" cy="2993366"/>
          </a:xfrm>
          <a:prstGeom prst="rect">
            <a:avLst/>
          </a:prstGeom>
        </p:spPr>
      </p:pic>
      <p:sp>
        <p:nvSpPr>
          <p:cNvPr id="6" name="Ellipse 5">
            <a:extLst>
              <a:ext uri="{FF2B5EF4-FFF2-40B4-BE49-F238E27FC236}">
                <a16:creationId xmlns:a16="http://schemas.microsoft.com/office/drawing/2014/main" id="{B6B07401-FCB8-2D8F-69B7-DF3DA08EFDCF}"/>
              </a:ext>
            </a:extLst>
          </p:cNvPr>
          <p:cNvSpPr/>
          <p:nvPr/>
        </p:nvSpPr>
        <p:spPr>
          <a:xfrm>
            <a:off x="3933646" y="4537494"/>
            <a:ext cx="6849374" cy="1259457"/>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droite 6">
            <a:extLst>
              <a:ext uri="{FF2B5EF4-FFF2-40B4-BE49-F238E27FC236}">
                <a16:creationId xmlns:a16="http://schemas.microsoft.com/office/drawing/2014/main" id="{3B081E64-9AE2-AB34-F176-35B92A79C251}"/>
              </a:ext>
            </a:extLst>
          </p:cNvPr>
          <p:cNvSpPr/>
          <p:nvPr/>
        </p:nvSpPr>
        <p:spPr>
          <a:xfrm>
            <a:off x="638355" y="3429000"/>
            <a:ext cx="628222" cy="427008"/>
          </a:xfrm>
          <a:prstGeom prst="rightArrow">
            <a:avLst/>
          </a:prstGeom>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11449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4C07DD-1388-2388-4CFF-7A1AA5B75040}"/>
              </a:ext>
            </a:extLst>
          </p:cNvPr>
          <p:cNvSpPr>
            <a:spLocks noGrp="1"/>
          </p:cNvSpPr>
          <p:nvPr>
            <p:ph type="title"/>
          </p:nvPr>
        </p:nvSpPr>
        <p:spPr/>
        <p:txBody>
          <a:bodyPr>
            <a:normAutofit fontScale="90000"/>
          </a:bodyPr>
          <a:lstStyle/>
          <a:p>
            <a:pPr marL="342900" indent="-342900">
              <a:buFont typeface="Arial" panose="020B0604020202020204" pitchFamily="34" charset="0"/>
              <a:buChar char="•"/>
            </a:pPr>
            <a:r>
              <a:rPr lang="fr-FR" sz="2000" b="1" u="sng" dirty="0"/>
              <a:t>PERSONNALISATION DU CONTENU DES FICHIERS DE TEST</a:t>
            </a:r>
            <a:br>
              <a:rPr lang="fr-FR" sz="2000" b="1" u="sng" dirty="0"/>
            </a:br>
            <a:br>
              <a:rPr lang="fr-FR" sz="2000" b="1" u="sng" dirty="0"/>
            </a:br>
            <a:r>
              <a:rPr lang="fr-FR" sz="2000" dirty="0"/>
              <a:t>L'UTILISATION DE FICHIERS AUX CONTENUS PERSONNALISÉS COMME « TEST.TXT » ET « TEST1.TXT » PERMET DE DÉMONTRER QUE LA SAUVEGARDE S3 PERSISTE L'INTÉGRALITÉ DES DONNÉES ET NON UNIQUEMENT LES DONNÉES DU FICHIER.</a:t>
            </a:r>
            <a:br>
              <a:rPr lang="fr-FR" sz="2000" dirty="0"/>
            </a:br>
            <a:endParaRPr lang="fr-FR" sz="2000" b="1" u="sng" dirty="0"/>
          </a:p>
        </p:txBody>
      </p:sp>
      <p:pic>
        <p:nvPicPr>
          <p:cNvPr id="6" name="Espace réservé du contenu 5">
            <a:extLst>
              <a:ext uri="{FF2B5EF4-FFF2-40B4-BE49-F238E27FC236}">
                <a16:creationId xmlns:a16="http://schemas.microsoft.com/office/drawing/2014/main" id="{F828FAFC-AE10-7C4C-1651-85C79A24F8CB}"/>
              </a:ext>
            </a:extLst>
          </p:cNvPr>
          <p:cNvPicPr>
            <a:picLocks noGrp="1" noChangeAspect="1"/>
          </p:cNvPicPr>
          <p:nvPr>
            <p:ph sz="half" idx="1"/>
          </p:nvPr>
        </p:nvPicPr>
        <p:blipFill>
          <a:blip r:embed="rId2"/>
          <a:stretch>
            <a:fillRect/>
          </a:stretch>
        </p:blipFill>
        <p:spPr>
          <a:xfrm>
            <a:off x="1584234" y="2789958"/>
            <a:ext cx="4307608" cy="2667138"/>
          </a:xfrm>
          <a:prstGeom prst="rect">
            <a:avLst/>
          </a:prstGeom>
        </p:spPr>
      </p:pic>
      <p:pic>
        <p:nvPicPr>
          <p:cNvPr id="8" name="Espace réservé du contenu 7">
            <a:extLst>
              <a:ext uri="{FF2B5EF4-FFF2-40B4-BE49-F238E27FC236}">
                <a16:creationId xmlns:a16="http://schemas.microsoft.com/office/drawing/2014/main" id="{F7C01CF9-4CBF-86D8-1EBB-4EE6FBCE2BC1}"/>
              </a:ext>
            </a:extLst>
          </p:cNvPr>
          <p:cNvPicPr>
            <a:picLocks noGrp="1" noChangeAspect="1"/>
          </p:cNvPicPr>
          <p:nvPr>
            <p:ph sz="half" idx="2"/>
          </p:nvPr>
        </p:nvPicPr>
        <p:blipFill>
          <a:blip r:embed="rId3"/>
          <a:stretch>
            <a:fillRect/>
          </a:stretch>
        </p:blipFill>
        <p:spPr>
          <a:xfrm>
            <a:off x="6516069" y="2789958"/>
            <a:ext cx="4307608" cy="2667138"/>
          </a:xfrm>
          <a:prstGeom prst="rect">
            <a:avLst/>
          </a:prstGeom>
        </p:spPr>
      </p:pic>
      <p:sp>
        <p:nvSpPr>
          <p:cNvPr id="9" name="Ellipse 8">
            <a:extLst>
              <a:ext uri="{FF2B5EF4-FFF2-40B4-BE49-F238E27FC236}">
                <a16:creationId xmlns:a16="http://schemas.microsoft.com/office/drawing/2014/main" id="{14CCA72A-9140-F0B2-6578-4DF7EAD01C57}"/>
              </a:ext>
            </a:extLst>
          </p:cNvPr>
          <p:cNvSpPr/>
          <p:nvPr/>
        </p:nvSpPr>
        <p:spPr>
          <a:xfrm>
            <a:off x="2053087" y="2915728"/>
            <a:ext cx="1009290" cy="207034"/>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6F05AF6F-2A39-69F0-8233-A670226824EF}"/>
              </a:ext>
            </a:extLst>
          </p:cNvPr>
          <p:cNvSpPr/>
          <p:nvPr/>
        </p:nvSpPr>
        <p:spPr>
          <a:xfrm>
            <a:off x="9549442" y="2915728"/>
            <a:ext cx="698739" cy="319178"/>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89461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35F86B-FEBB-E7EA-0DDB-59A46C2F795E}"/>
              </a:ext>
            </a:extLst>
          </p:cNvPr>
          <p:cNvSpPr>
            <a:spLocks noGrp="1"/>
          </p:cNvSpPr>
          <p:nvPr>
            <p:ph type="title"/>
          </p:nvPr>
        </p:nvSpPr>
        <p:spPr/>
        <p:txBody>
          <a:bodyPr>
            <a:normAutofit fontScale="90000"/>
          </a:bodyPr>
          <a:lstStyle/>
          <a:p>
            <a:r>
              <a:rPr lang="fr-FR" sz="3200" b="1" u="sng" dirty="0"/>
              <a:t>SÉLECTION DES DONNÉES À CHARGER</a:t>
            </a:r>
            <a:br>
              <a:rPr lang="fr-FR" sz="3200" dirty="0"/>
            </a:br>
            <a:br>
              <a:rPr lang="fr-FR" sz="3200" dirty="0"/>
            </a:br>
            <a:r>
              <a:rPr lang="fr-FR" sz="2000" dirty="0"/>
              <a:t>LE CHARGEMENT DES FICHIERS VIA L'INTERFACE AWS PERMET D'INITIALISER LES OBJETS DANS LE CLOUD ET DE DÉFINIR LA PREMIÈRE VERSION DE RÉFÉRENCE NÉCESSAIRE AUX TESTS D'INTÉGRITÉ</a:t>
            </a:r>
            <a:r>
              <a:rPr lang="fr-FR" sz="3200" dirty="0"/>
              <a:t>.</a:t>
            </a:r>
          </a:p>
        </p:txBody>
      </p:sp>
      <p:pic>
        <p:nvPicPr>
          <p:cNvPr id="5" name="Espace réservé du contenu 4">
            <a:extLst>
              <a:ext uri="{FF2B5EF4-FFF2-40B4-BE49-F238E27FC236}">
                <a16:creationId xmlns:a16="http://schemas.microsoft.com/office/drawing/2014/main" id="{3A133589-3691-B9CF-2A53-72049EA73022}"/>
              </a:ext>
            </a:extLst>
          </p:cNvPr>
          <p:cNvPicPr>
            <a:picLocks noGrp="1" noChangeAspect="1"/>
          </p:cNvPicPr>
          <p:nvPr>
            <p:ph idx="1"/>
          </p:nvPr>
        </p:nvPicPr>
        <p:blipFill>
          <a:blip r:embed="rId2"/>
          <a:stretch>
            <a:fillRect/>
          </a:stretch>
        </p:blipFill>
        <p:spPr>
          <a:xfrm>
            <a:off x="2035834" y="2536166"/>
            <a:ext cx="7729268" cy="3682072"/>
          </a:xfrm>
          <a:prstGeom prst="rect">
            <a:avLst/>
          </a:prstGeom>
        </p:spPr>
      </p:pic>
      <p:sp>
        <p:nvSpPr>
          <p:cNvPr id="6" name="Ellipse 5">
            <a:extLst>
              <a:ext uri="{FF2B5EF4-FFF2-40B4-BE49-F238E27FC236}">
                <a16:creationId xmlns:a16="http://schemas.microsoft.com/office/drawing/2014/main" id="{5A4513B6-AD25-8F15-1B05-2D07C8F5D9E4}"/>
              </a:ext>
            </a:extLst>
          </p:cNvPr>
          <p:cNvSpPr/>
          <p:nvPr/>
        </p:nvSpPr>
        <p:spPr>
          <a:xfrm>
            <a:off x="8384875" y="4528868"/>
            <a:ext cx="1380227" cy="353683"/>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81919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B1EFED-9066-5A39-7E50-3945330AC69E}"/>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3200" b="1" u="sng" dirty="0"/>
              <a:t>DESTINATION ET LANCEMENT DU TÉLÉVERSEMENT</a:t>
            </a:r>
            <a:br>
              <a:rPr lang="fr-FR" sz="3200" b="1" u="sng" dirty="0"/>
            </a:br>
            <a:br>
              <a:rPr lang="fr-FR" sz="3200" b="1" u="sng" dirty="0"/>
            </a:br>
            <a:r>
              <a:rPr lang="fr-FR" sz="2000" dirty="0"/>
              <a:t>LA DÉFINITION DE LA DESTINATION VERS LE BUCKET CIBLE PERMET DE FINALISER LE TRANSFERT DES FICHIERS DE TEST, RENDANT LES DONNÉES ACCESSIBLES POUR LES PROCHAINES OPÉRATIONS DE SÉCURITÉ ET DE VERSIONNEMENT</a:t>
            </a:r>
            <a:r>
              <a:rPr lang="fr-FR" sz="3200" dirty="0"/>
              <a:t>.</a:t>
            </a:r>
          </a:p>
        </p:txBody>
      </p:sp>
      <p:pic>
        <p:nvPicPr>
          <p:cNvPr id="5" name="Espace réservé du contenu 4">
            <a:extLst>
              <a:ext uri="{FF2B5EF4-FFF2-40B4-BE49-F238E27FC236}">
                <a16:creationId xmlns:a16="http://schemas.microsoft.com/office/drawing/2014/main" id="{F543220A-6A35-E6CE-DF89-2CD109BE5BB3}"/>
              </a:ext>
            </a:extLst>
          </p:cNvPr>
          <p:cNvPicPr>
            <a:picLocks noGrp="1" noChangeAspect="1"/>
          </p:cNvPicPr>
          <p:nvPr>
            <p:ph idx="1"/>
          </p:nvPr>
        </p:nvPicPr>
        <p:blipFill>
          <a:blip r:embed="rId2"/>
          <a:stretch>
            <a:fillRect/>
          </a:stretch>
        </p:blipFill>
        <p:spPr>
          <a:xfrm>
            <a:off x="685800" y="2717321"/>
            <a:ext cx="8346057" cy="3019245"/>
          </a:xfrm>
          <a:prstGeom prst="rect">
            <a:avLst/>
          </a:prstGeom>
        </p:spPr>
      </p:pic>
      <p:sp>
        <p:nvSpPr>
          <p:cNvPr id="6" name="Ellipse 5">
            <a:extLst>
              <a:ext uri="{FF2B5EF4-FFF2-40B4-BE49-F238E27FC236}">
                <a16:creationId xmlns:a16="http://schemas.microsoft.com/office/drawing/2014/main" id="{CD2C61F8-4A2A-5734-9FD2-EB65D0A2DFA9}"/>
              </a:ext>
            </a:extLst>
          </p:cNvPr>
          <p:cNvSpPr/>
          <p:nvPr/>
        </p:nvSpPr>
        <p:spPr>
          <a:xfrm>
            <a:off x="8022566" y="5106838"/>
            <a:ext cx="1130060" cy="491705"/>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76141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34B3A-B511-847F-0344-F673EEF1121B}"/>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VÉRIFICATION DES OBJETS DANS LE DOSSIER DE TEST</a:t>
            </a:r>
            <a:br>
              <a:rPr lang="fr-FR" sz="2800" b="1" u="sng" dirty="0"/>
            </a:br>
            <a:br>
              <a:rPr lang="fr-FR" sz="2800" b="1" u="sng" dirty="0"/>
            </a:br>
            <a:r>
              <a:rPr lang="fr-FR" sz="2000" dirty="0"/>
              <a:t>la PRÉSENCE EFFECTIVE DE L'ARBORESCENCE ET DES FICHIERS DANS LA CONSOLE S3 CONFIRME LE SUCCÈS DU TRANSFERT ET CONSTITUE LE POINT DE DÉPART DE LA GESTION DU VERSIONNEMENT ACTIF.</a:t>
            </a:r>
            <a:br>
              <a:rPr lang="fr-FR" sz="2000" dirty="0"/>
            </a:br>
            <a:endParaRPr lang="fr-FR" sz="2000" dirty="0"/>
          </a:p>
        </p:txBody>
      </p:sp>
      <p:pic>
        <p:nvPicPr>
          <p:cNvPr id="9" name="Espace réservé du contenu 8">
            <a:extLst>
              <a:ext uri="{FF2B5EF4-FFF2-40B4-BE49-F238E27FC236}">
                <a16:creationId xmlns:a16="http://schemas.microsoft.com/office/drawing/2014/main" id="{8F0C49CF-6AC1-758F-DA8F-915F05C8A1FC}"/>
              </a:ext>
            </a:extLst>
          </p:cNvPr>
          <p:cNvPicPr>
            <a:picLocks noGrp="1" noChangeAspect="1"/>
          </p:cNvPicPr>
          <p:nvPr>
            <p:ph idx="1"/>
          </p:nvPr>
        </p:nvPicPr>
        <p:blipFill>
          <a:blip r:embed="rId2"/>
          <a:stretch>
            <a:fillRect/>
          </a:stretch>
        </p:blipFill>
        <p:spPr>
          <a:xfrm>
            <a:off x="1482293" y="2193925"/>
            <a:ext cx="8610600" cy="4042973"/>
          </a:xfrm>
          <a:prstGeom prst="rect">
            <a:avLst/>
          </a:prstGeom>
        </p:spPr>
      </p:pic>
      <p:sp>
        <p:nvSpPr>
          <p:cNvPr id="10" name="Ellipse 9">
            <a:extLst>
              <a:ext uri="{FF2B5EF4-FFF2-40B4-BE49-F238E27FC236}">
                <a16:creationId xmlns:a16="http://schemas.microsoft.com/office/drawing/2014/main" id="{29542B9F-451B-4ED1-CA0F-D0B04D6ABC2D}"/>
              </a:ext>
            </a:extLst>
          </p:cNvPr>
          <p:cNvSpPr/>
          <p:nvPr/>
        </p:nvSpPr>
        <p:spPr>
          <a:xfrm>
            <a:off x="3148642" y="2829464"/>
            <a:ext cx="2225615" cy="474453"/>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14DEE54E-5717-30BA-8826-2509A159399F}"/>
              </a:ext>
            </a:extLst>
          </p:cNvPr>
          <p:cNvSpPr/>
          <p:nvPr/>
        </p:nvSpPr>
        <p:spPr>
          <a:xfrm>
            <a:off x="3700732" y="5702060"/>
            <a:ext cx="1259457" cy="603849"/>
          </a:xfrm>
          <a:prstGeom prst="round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65214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98267A-A1FB-B9E4-1F9C-1FA9CA35FE64}"/>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VISUALISATION DES IDENTIFIANTS DE VERSION (VERSION ID)</a:t>
            </a:r>
            <a:br>
              <a:rPr lang="fr-FR" sz="2800" b="1" u="sng" dirty="0"/>
            </a:br>
            <a:br>
              <a:rPr lang="fr-FR" sz="2800" b="1" u="sng" dirty="0"/>
            </a:br>
            <a:r>
              <a:rPr lang="fr-FR" sz="1800" dirty="0"/>
              <a:t>L'ACTIVATION DU MODE « AFFICHER LES VERSIONS » PERMET D'EXPOSER L'IDENTIFIANT UNIQUE (ID DE VERSION) ATTRIBUÉ PAR AWS À CHAQUE OBJET, CONFIRMANT QUE LE SYSTÈME EST PRÊT À ARCHIVER TOUTE MODIFICATION FUTURE SANS ÉCRASER L'ORIGINAL</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4C5C5F32-F85C-3C7C-6959-AB0013407635}"/>
              </a:ext>
            </a:extLst>
          </p:cNvPr>
          <p:cNvPicPr>
            <a:picLocks noGrp="1" noChangeAspect="1"/>
          </p:cNvPicPr>
          <p:nvPr>
            <p:ph idx="1"/>
          </p:nvPr>
        </p:nvPicPr>
        <p:blipFill>
          <a:blip r:embed="rId2"/>
          <a:stretch>
            <a:fillRect/>
          </a:stretch>
        </p:blipFill>
        <p:spPr>
          <a:xfrm>
            <a:off x="1580918" y="2553418"/>
            <a:ext cx="8710395" cy="3500607"/>
          </a:xfrm>
          <a:prstGeom prst="rect">
            <a:avLst/>
          </a:prstGeom>
        </p:spPr>
      </p:pic>
      <p:sp>
        <p:nvSpPr>
          <p:cNvPr id="6" name="Ellipse 5">
            <a:extLst>
              <a:ext uri="{FF2B5EF4-FFF2-40B4-BE49-F238E27FC236}">
                <a16:creationId xmlns:a16="http://schemas.microsoft.com/office/drawing/2014/main" id="{8D7AD60B-3509-6406-722D-433AECA7378B}"/>
              </a:ext>
            </a:extLst>
          </p:cNvPr>
          <p:cNvSpPr/>
          <p:nvPr/>
        </p:nvSpPr>
        <p:spPr>
          <a:xfrm>
            <a:off x="1900687" y="5244860"/>
            <a:ext cx="7933426" cy="931653"/>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06088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3BDDD0-4BA0-DC98-E423-E54801DEACAC}"/>
              </a:ext>
            </a:extLst>
          </p:cNvPr>
          <p:cNvSpPr>
            <a:spLocks noGrp="1"/>
          </p:cNvSpPr>
          <p:nvPr>
            <p:ph type="title"/>
          </p:nvPr>
        </p:nvSpPr>
        <p:spPr/>
        <p:txBody>
          <a:bodyPr>
            <a:normAutofit fontScale="90000"/>
          </a:bodyPr>
          <a:lstStyle/>
          <a:p>
            <a:r>
              <a:rPr lang="fr-FR" sz="3200" b="1" u="sng" dirty="0"/>
              <a:t>4.Test d’</a:t>
            </a:r>
            <a:r>
              <a:rPr lang="fr-FR" sz="3200" b="1" u="sng" dirty="0" err="1"/>
              <a:t>iteration</a:t>
            </a:r>
            <a:br>
              <a:rPr lang="fr-FR" sz="3200" b="1" u="sng" dirty="0"/>
            </a:br>
            <a:br>
              <a:rPr lang="fr-FR" sz="3200" b="1" u="sng" dirty="0"/>
            </a:br>
            <a:r>
              <a:rPr lang="fr-FR" sz="2000" dirty="0"/>
              <a:t>Lors de cette phase, nous avons effectué plusieurs téléversements du fichier </a:t>
            </a:r>
            <a:r>
              <a:rPr lang="fr-FR" sz="2000" b="1" dirty="0"/>
              <a:t>test1.txt</a:t>
            </a:r>
            <a:r>
              <a:rPr lang="fr-FR" sz="2000" dirty="0"/>
              <a:t>. Comme le montre la capture d'écran, le mode 'Afficher les versions' révèle que chaque itération dispose de son propre </a:t>
            </a:r>
            <a:r>
              <a:rPr lang="fr-FR" sz="2000" b="1" dirty="0"/>
              <a:t>Version ID</a:t>
            </a:r>
            <a:r>
              <a:rPr lang="fr-FR" sz="2000" dirty="0"/>
              <a:t> et de son propre horodatage, garantissant ainsi qu'aucune donnée n'est perdue lors des mises à jour successives."</a:t>
            </a:r>
            <a:endParaRPr lang="fr-FR" sz="2000" b="1" u="sng" dirty="0"/>
          </a:p>
        </p:txBody>
      </p:sp>
      <p:pic>
        <p:nvPicPr>
          <p:cNvPr id="5" name="Espace réservé du contenu 4">
            <a:extLst>
              <a:ext uri="{FF2B5EF4-FFF2-40B4-BE49-F238E27FC236}">
                <a16:creationId xmlns:a16="http://schemas.microsoft.com/office/drawing/2014/main" id="{5FA9A639-5660-B07D-FA2A-60513F39DAA3}"/>
              </a:ext>
            </a:extLst>
          </p:cNvPr>
          <p:cNvPicPr>
            <a:picLocks noGrp="1" noChangeAspect="1"/>
          </p:cNvPicPr>
          <p:nvPr>
            <p:ph idx="1"/>
          </p:nvPr>
        </p:nvPicPr>
        <p:blipFill>
          <a:blip r:embed="rId2"/>
          <a:stretch>
            <a:fillRect/>
          </a:stretch>
        </p:blipFill>
        <p:spPr>
          <a:xfrm>
            <a:off x="1444267" y="2553419"/>
            <a:ext cx="8381220" cy="3664819"/>
          </a:xfrm>
          <a:prstGeom prst="rect">
            <a:avLst/>
          </a:prstGeom>
        </p:spPr>
      </p:pic>
      <p:sp>
        <p:nvSpPr>
          <p:cNvPr id="6" name="Ellipse 5">
            <a:extLst>
              <a:ext uri="{FF2B5EF4-FFF2-40B4-BE49-F238E27FC236}">
                <a16:creationId xmlns:a16="http://schemas.microsoft.com/office/drawing/2014/main" id="{558FEBE6-827D-E76F-4D1B-959C3C24EF03}"/>
              </a:ext>
            </a:extLst>
          </p:cNvPr>
          <p:cNvSpPr/>
          <p:nvPr/>
        </p:nvSpPr>
        <p:spPr>
          <a:xfrm>
            <a:off x="3062377" y="5184475"/>
            <a:ext cx="7306574" cy="1293028"/>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54902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0424D7-54F2-A715-1060-A668324406E0}"/>
              </a:ext>
            </a:extLst>
          </p:cNvPr>
          <p:cNvSpPr>
            <a:spLocks noGrp="1"/>
          </p:cNvSpPr>
          <p:nvPr>
            <p:ph type="title"/>
          </p:nvPr>
        </p:nvSpPr>
        <p:spPr/>
        <p:txBody>
          <a:bodyPr>
            <a:normAutofit/>
          </a:bodyPr>
          <a:lstStyle/>
          <a:p>
            <a:r>
              <a:rPr lang="fr-FR" sz="3200" b="1" u="sng" dirty="0"/>
              <a:t>5. Simulation d’incidents</a:t>
            </a:r>
          </a:p>
        </p:txBody>
      </p:sp>
      <p:sp>
        <p:nvSpPr>
          <p:cNvPr id="3" name="Espace réservé du contenu 2">
            <a:extLst>
              <a:ext uri="{FF2B5EF4-FFF2-40B4-BE49-F238E27FC236}">
                <a16:creationId xmlns:a16="http://schemas.microsoft.com/office/drawing/2014/main" id="{DF7CB7A3-F031-2FF7-09A4-9FBD7D83591B}"/>
              </a:ext>
            </a:extLst>
          </p:cNvPr>
          <p:cNvSpPr>
            <a:spLocks noGrp="1"/>
          </p:cNvSpPr>
          <p:nvPr>
            <p:ph idx="1"/>
          </p:nvPr>
        </p:nvSpPr>
        <p:spPr/>
        <p:txBody>
          <a:bodyPr/>
          <a:lstStyle/>
          <a:p>
            <a:pPr marL="0" indent="0">
              <a:buNone/>
            </a:pPr>
            <a:r>
              <a:rPr lang="fr-FR" sz="4000" dirty="0"/>
              <a:t>C'EST L'ÉTAPE LA PLUS SPECTACULAIRE DE MON PROJET </a:t>
            </a:r>
            <a:r>
              <a:rPr lang="fr-FR" sz="4000" b="1" dirty="0"/>
              <a:t>TPE7</a:t>
            </a:r>
            <a:r>
              <a:rPr lang="fr-FR" sz="4000" dirty="0"/>
              <a:t>. ICI, JE PROUVE QUE MA SOLUTION DE SAUVEGARDE PEUT RÉSISTER À UNE ERREUR CRITIQUE</a:t>
            </a:r>
            <a:r>
              <a:rPr lang="fr-FR" dirty="0"/>
              <a:t>.</a:t>
            </a:r>
          </a:p>
        </p:txBody>
      </p:sp>
    </p:spTree>
    <p:extLst>
      <p:ext uri="{BB962C8B-B14F-4D97-AF65-F5344CB8AC3E}">
        <p14:creationId xmlns:p14="http://schemas.microsoft.com/office/powerpoint/2010/main" val="3291932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A92ED9-1B72-C524-7891-77C3D1A8C9E0}"/>
              </a:ext>
            </a:extLst>
          </p:cNvPr>
          <p:cNvSpPr>
            <a:spLocks noGrp="1"/>
          </p:cNvSpPr>
          <p:nvPr>
            <p:ph type="title"/>
          </p:nvPr>
        </p:nvSpPr>
        <p:spPr/>
        <p:txBody>
          <a:bodyPr>
            <a:normAutofit fontScale="90000"/>
          </a:bodyPr>
          <a:lstStyle/>
          <a:p>
            <a:pPr marL="571500" indent="-571500">
              <a:buFont typeface="Arial" panose="020B0604020202020204" pitchFamily="34" charset="0"/>
              <a:buChar char="•"/>
            </a:pPr>
            <a:r>
              <a:rPr lang="fr-FR" sz="2800" b="1" u="sng" dirty="0"/>
              <a:t>SITUATION DE RÉFÉRENCE AVANT L'INCIDENT</a:t>
            </a:r>
            <a:br>
              <a:rPr lang="fr-FR" sz="2800" b="1" u="sng" dirty="0"/>
            </a:br>
            <a:br>
              <a:rPr lang="fr-FR" sz="2800" b="1" u="sng" dirty="0"/>
            </a:br>
            <a:r>
              <a:rPr lang="fr-FR" sz="2800" dirty="0"/>
              <a:t>LE MODE « AFFICHER LES VERSIONS » EST DÉSACTIVÉ, SIMULANT LA VUE QU'AURAIT UN UTILISATEUR STANDARD DANS UN ENVIRONNEMENT DE PRODUCTION.</a:t>
            </a:r>
            <a:endParaRPr lang="fr-FR" sz="2800" b="1" u="sng" dirty="0"/>
          </a:p>
        </p:txBody>
      </p:sp>
      <p:pic>
        <p:nvPicPr>
          <p:cNvPr id="5" name="Espace réservé du contenu 4">
            <a:extLst>
              <a:ext uri="{FF2B5EF4-FFF2-40B4-BE49-F238E27FC236}">
                <a16:creationId xmlns:a16="http://schemas.microsoft.com/office/drawing/2014/main" id="{7B049D71-59F2-3C9E-EE3B-6E5CADE7E0DA}"/>
              </a:ext>
            </a:extLst>
          </p:cNvPr>
          <p:cNvPicPr>
            <a:picLocks noGrp="1" noChangeAspect="1"/>
          </p:cNvPicPr>
          <p:nvPr>
            <p:ph idx="1"/>
          </p:nvPr>
        </p:nvPicPr>
        <p:blipFill>
          <a:blip r:embed="rId2"/>
          <a:stretch>
            <a:fillRect/>
          </a:stretch>
        </p:blipFill>
        <p:spPr>
          <a:xfrm>
            <a:off x="1056281" y="2596551"/>
            <a:ext cx="9157394" cy="3621687"/>
          </a:xfrm>
          <a:prstGeom prst="rect">
            <a:avLst/>
          </a:prstGeom>
        </p:spPr>
      </p:pic>
      <p:sp>
        <p:nvSpPr>
          <p:cNvPr id="6" name="Ellipse 5">
            <a:extLst>
              <a:ext uri="{FF2B5EF4-FFF2-40B4-BE49-F238E27FC236}">
                <a16:creationId xmlns:a16="http://schemas.microsoft.com/office/drawing/2014/main" id="{760B0E47-455A-3FEC-5C36-E4321AA0F6A2}"/>
              </a:ext>
            </a:extLst>
          </p:cNvPr>
          <p:cNvSpPr/>
          <p:nvPr/>
        </p:nvSpPr>
        <p:spPr>
          <a:xfrm>
            <a:off x="5633049" y="4641011"/>
            <a:ext cx="1423359" cy="336431"/>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32159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6D825C-FE3C-1F77-2911-13E3FEFE7625}"/>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DÉCLENCHEMENT DE LA SUPPRESSION DE L'OBJET CIBLE</a:t>
            </a:r>
            <a:br>
              <a:rPr lang="fr-FR" sz="2800" b="1" u="sng" dirty="0"/>
            </a:br>
            <a:br>
              <a:rPr lang="fr-FR" sz="2800" b="1" u="sng" dirty="0"/>
            </a:br>
            <a:r>
              <a:rPr lang="fr-FR" sz="1800" dirty="0"/>
              <a:t>Le but est de simuler une erreur humaine classique : la suppression accidentelle d'un fichier important. En supprimant « Test1.txt » comme le ferait n'importe quel utilisateur, nous allons prouver que même si le fichier semble avoir disparu, le système AWS S3 le garde en sécurité « en arrière-plan » grâce au </a:t>
            </a:r>
            <a:r>
              <a:rPr lang="fr-FR" sz="1800" dirty="0" err="1"/>
              <a:t>versionnement</a:t>
            </a:r>
            <a:r>
              <a:rPr lang="fr-FR" sz="1800" dirty="0"/>
              <a:t>.</a:t>
            </a:r>
            <a:endParaRPr lang="fr-FR" sz="1800" b="1" u="sng" dirty="0"/>
          </a:p>
        </p:txBody>
      </p:sp>
      <p:pic>
        <p:nvPicPr>
          <p:cNvPr id="5" name="Espace réservé du contenu 4">
            <a:extLst>
              <a:ext uri="{FF2B5EF4-FFF2-40B4-BE49-F238E27FC236}">
                <a16:creationId xmlns:a16="http://schemas.microsoft.com/office/drawing/2014/main" id="{499D1279-6A01-A88E-6CD1-3601FBF3109F}"/>
              </a:ext>
            </a:extLst>
          </p:cNvPr>
          <p:cNvPicPr>
            <a:picLocks noGrp="1" noChangeAspect="1"/>
          </p:cNvPicPr>
          <p:nvPr>
            <p:ph idx="1"/>
          </p:nvPr>
        </p:nvPicPr>
        <p:blipFill>
          <a:blip r:embed="rId2"/>
          <a:stretch>
            <a:fillRect/>
          </a:stretch>
        </p:blipFill>
        <p:spPr>
          <a:xfrm>
            <a:off x="1201452" y="2722106"/>
            <a:ext cx="9495304" cy="3647566"/>
          </a:xfrm>
          <a:prstGeom prst="rect">
            <a:avLst/>
          </a:prstGeom>
        </p:spPr>
      </p:pic>
      <p:sp>
        <p:nvSpPr>
          <p:cNvPr id="6" name="Ellipse 5">
            <a:extLst>
              <a:ext uri="{FF2B5EF4-FFF2-40B4-BE49-F238E27FC236}">
                <a16:creationId xmlns:a16="http://schemas.microsoft.com/office/drawing/2014/main" id="{AFDB86DF-EABD-826A-60EB-B499B25BD06E}"/>
              </a:ext>
            </a:extLst>
          </p:cNvPr>
          <p:cNvSpPr/>
          <p:nvPr/>
        </p:nvSpPr>
        <p:spPr>
          <a:xfrm>
            <a:off x="3579962" y="5658928"/>
            <a:ext cx="1397479" cy="362310"/>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6BFF85C0-0F5D-6D60-9E28-8B052DB72A5A}"/>
              </a:ext>
            </a:extLst>
          </p:cNvPr>
          <p:cNvSpPr/>
          <p:nvPr/>
        </p:nvSpPr>
        <p:spPr>
          <a:xfrm>
            <a:off x="8255479" y="3597216"/>
            <a:ext cx="1061049" cy="483079"/>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32205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A44CB3-C44A-12CF-0C38-FB204A3F79C6}"/>
              </a:ext>
            </a:extLst>
          </p:cNvPr>
          <p:cNvSpPr>
            <a:spLocks noGrp="1"/>
          </p:cNvSpPr>
          <p:nvPr>
            <p:ph type="title"/>
          </p:nvPr>
        </p:nvSpPr>
        <p:spPr>
          <a:xfrm>
            <a:off x="3076755" y="241539"/>
            <a:ext cx="8610600" cy="2484408"/>
          </a:xfrm>
        </p:spPr>
        <p:txBody>
          <a:bodyPr>
            <a:normAutofit fontScale="90000"/>
          </a:bodyPr>
          <a:lstStyle/>
          <a:p>
            <a:pPr marL="457200" indent="-457200">
              <a:buFont typeface="Arial" panose="020B0604020202020204" pitchFamily="34" charset="0"/>
              <a:buChar char="•"/>
            </a:pPr>
            <a:r>
              <a:rPr lang="fr-FR" sz="2800" b="1" u="sng" dirty="0"/>
              <a:t>CONFIRMATION DE LA SUPPRESSION ET MÉCANISME DE SÉCURITÉ</a:t>
            </a:r>
            <a:br>
              <a:rPr lang="fr-FR" sz="2800" b="1" u="sng" dirty="0"/>
            </a:br>
            <a:br>
              <a:rPr lang="fr-FR" sz="2800" b="1" u="sng" dirty="0"/>
            </a:br>
            <a:r>
              <a:rPr lang="fr-FR" sz="2000" dirty="0"/>
              <a:t>Avant de valider, AWS nous informe qu'il ne va pas détruire le fichier, mais lui ajouter un </a:t>
            </a:r>
            <a:r>
              <a:rPr lang="fr-FR" sz="2000" b="1" dirty="0"/>
              <a:t>« marqueur de suppression »</a:t>
            </a:r>
            <a:r>
              <a:rPr lang="fr-FR" sz="2000" dirty="0"/>
              <a:t>. C'est la preuve que notre configuration de </a:t>
            </a:r>
            <a:r>
              <a:rPr lang="fr-FR" sz="2000" dirty="0" err="1"/>
              <a:t>versionnement</a:t>
            </a:r>
            <a:r>
              <a:rPr lang="fr-FR" sz="2000" dirty="0"/>
              <a:t> fonctionne : le fichier devient invisible pour l'utilisateur, mais il n'est pas effacé du serveur.</a:t>
            </a:r>
            <a:endParaRPr lang="fr-FR" sz="2000" b="1" u="sng" dirty="0"/>
          </a:p>
        </p:txBody>
      </p:sp>
      <p:pic>
        <p:nvPicPr>
          <p:cNvPr id="5" name="Espace réservé du contenu 4">
            <a:extLst>
              <a:ext uri="{FF2B5EF4-FFF2-40B4-BE49-F238E27FC236}">
                <a16:creationId xmlns:a16="http://schemas.microsoft.com/office/drawing/2014/main" id="{B75B18D7-076F-7AD2-D999-7A1672E9B02F}"/>
              </a:ext>
            </a:extLst>
          </p:cNvPr>
          <p:cNvPicPr>
            <a:picLocks noGrp="1" noChangeAspect="1"/>
          </p:cNvPicPr>
          <p:nvPr>
            <p:ph idx="1"/>
          </p:nvPr>
        </p:nvPicPr>
        <p:blipFill>
          <a:blip r:embed="rId2"/>
          <a:stretch>
            <a:fillRect/>
          </a:stretch>
        </p:blipFill>
        <p:spPr>
          <a:xfrm>
            <a:off x="1131873" y="2725948"/>
            <a:ext cx="9642520" cy="3890513"/>
          </a:xfrm>
          <a:prstGeom prst="rect">
            <a:avLst/>
          </a:prstGeom>
        </p:spPr>
      </p:pic>
      <p:sp>
        <p:nvSpPr>
          <p:cNvPr id="6" name="Ellipse 5">
            <a:extLst>
              <a:ext uri="{FF2B5EF4-FFF2-40B4-BE49-F238E27FC236}">
                <a16:creationId xmlns:a16="http://schemas.microsoft.com/office/drawing/2014/main" id="{D858664E-8A9E-265A-F9EC-2B889A49BF19}"/>
              </a:ext>
            </a:extLst>
          </p:cNvPr>
          <p:cNvSpPr/>
          <p:nvPr/>
        </p:nvSpPr>
        <p:spPr>
          <a:xfrm>
            <a:off x="854016" y="4485736"/>
            <a:ext cx="7272068" cy="905773"/>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29904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4C9616-D9A0-F4B8-DBA7-BB9FF2B18875}"/>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3200" b="1" u="sng" dirty="0"/>
              <a:t>VALIDATION DE LA SUPPRESSION SÉCURISÉE</a:t>
            </a:r>
            <a:br>
              <a:rPr lang="fr-FR" sz="3200" b="1" u="sng" dirty="0"/>
            </a:br>
            <a:br>
              <a:rPr lang="fr-FR" sz="3200" b="1" u="sng" dirty="0"/>
            </a:br>
            <a:r>
              <a:rPr lang="fr-FR" sz="1800" dirty="0"/>
              <a:t>Cette étape montre la double sécurité d'AWS S3. Pour éviter toute suppression involontaire, le système oblige l'administrateur à confirmer manuellement son action. Comme indiqué dans le bandeau bleu, cette suppression n'est pas définitive : elle va simplement créer un </a:t>
            </a:r>
            <a:r>
              <a:rPr lang="fr-FR" sz="1800" b="1" dirty="0"/>
              <a:t>« marqueur de suppression »</a:t>
            </a:r>
            <a:r>
              <a:rPr lang="fr-FR" sz="1800" dirty="0"/>
              <a:t> qui rendra le fichier invisible, tout en conservant son historique intact</a:t>
            </a:r>
            <a:r>
              <a:rPr lang="fr-FR" sz="3200" dirty="0"/>
              <a:t>.</a:t>
            </a:r>
            <a:endParaRPr lang="fr-FR" sz="3200" b="1" u="sng" dirty="0"/>
          </a:p>
        </p:txBody>
      </p:sp>
      <p:pic>
        <p:nvPicPr>
          <p:cNvPr id="5" name="Espace réservé du contenu 4">
            <a:extLst>
              <a:ext uri="{FF2B5EF4-FFF2-40B4-BE49-F238E27FC236}">
                <a16:creationId xmlns:a16="http://schemas.microsoft.com/office/drawing/2014/main" id="{5FB38689-C052-C097-4F5F-957F771ABD77}"/>
              </a:ext>
            </a:extLst>
          </p:cNvPr>
          <p:cNvPicPr>
            <a:picLocks noGrp="1" noChangeAspect="1"/>
          </p:cNvPicPr>
          <p:nvPr>
            <p:ph idx="1"/>
          </p:nvPr>
        </p:nvPicPr>
        <p:blipFill>
          <a:blip r:embed="rId2"/>
          <a:stretch>
            <a:fillRect/>
          </a:stretch>
        </p:blipFill>
        <p:spPr>
          <a:xfrm>
            <a:off x="697303" y="2768600"/>
            <a:ext cx="10797394" cy="3916363"/>
          </a:xfrm>
          <a:prstGeom prst="rect">
            <a:avLst/>
          </a:prstGeom>
          <a:ln w="38100">
            <a:solidFill>
              <a:schemeClr val="accent2">
                <a:lumMod val="75000"/>
              </a:schemeClr>
            </a:solidFill>
          </a:ln>
        </p:spPr>
      </p:pic>
      <p:sp>
        <p:nvSpPr>
          <p:cNvPr id="6" name="Ellipse 5">
            <a:extLst>
              <a:ext uri="{FF2B5EF4-FFF2-40B4-BE49-F238E27FC236}">
                <a16:creationId xmlns:a16="http://schemas.microsoft.com/office/drawing/2014/main" id="{111F6E2A-31F0-AC35-5DB6-FEEA20719F03}"/>
              </a:ext>
            </a:extLst>
          </p:cNvPr>
          <p:cNvSpPr/>
          <p:nvPr/>
        </p:nvSpPr>
        <p:spPr>
          <a:xfrm>
            <a:off x="9359660" y="6093628"/>
            <a:ext cx="2146539" cy="76437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10405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5FA27B-C584-A2B4-108D-64BC30FA27C9}"/>
              </a:ext>
            </a:extLst>
          </p:cNvPr>
          <p:cNvSpPr>
            <a:spLocks noGrp="1"/>
          </p:cNvSpPr>
          <p:nvPr>
            <p:ph type="title"/>
          </p:nvPr>
        </p:nvSpPr>
        <p:spPr>
          <a:xfrm>
            <a:off x="2895600" y="1061049"/>
            <a:ext cx="8610600" cy="2708694"/>
          </a:xfrm>
        </p:spPr>
        <p:txBody>
          <a:bodyPr>
            <a:normAutofit/>
          </a:bodyPr>
          <a:lstStyle/>
          <a:p>
            <a:pPr marL="457200" indent="-457200">
              <a:buFont typeface="Arial" panose="020B0604020202020204" pitchFamily="34" charset="0"/>
              <a:buChar char="•"/>
            </a:pPr>
            <a:r>
              <a:rPr lang="fr-FR" sz="2800" b="1" u="sng" dirty="0"/>
              <a:t>CONFIRMATION DU SUCCÈS DE LA SUPPRESSION (SIMULATION DE PERTE</a:t>
            </a:r>
            <a:br>
              <a:rPr lang="fr-FR" sz="2800" dirty="0"/>
            </a:br>
            <a:br>
              <a:rPr lang="fr-FR" sz="2800" dirty="0"/>
            </a:br>
            <a:r>
              <a:rPr lang="fr-FR" sz="2000" dirty="0"/>
              <a:t>Le bandeau vert confirme que le fichier a été retiré de la vue active. Pour un utilisateur classique, la donnée est désormais "perdue". Cette étape valide la réussite de notre simulation d'incident et nous place dans la situation réelle où une restauration devient nécessaire.)</a:t>
            </a:r>
          </a:p>
        </p:txBody>
      </p:sp>
      <p:pic>
        <p:nvPicPr>
          <p:cNvPr id="5" name="Espace réservé du contenu 4">
            <a:extLst>
              <a:ext uri="{FF2B5EF4-FFF2-40B4-BE49-F238E27FC236}">
                <a16:creationId xmlns:a16="http://schemas.microsoft.com/office/drawing/2014/main" id="{2BA24CC2-4AFE-3E6B-6D7C-C49E26447D69}"/>
              </a:ext>
            </a:extLst>
          </p:cNvPr>
          <p:cNvPicPr>
            <a:picLocks noGrp="1" noChangeAspect="1"/>
          </p:cNvPicPr>
          <p:nvPr>
            <p:ph idx="1"/>
          </p:nvPr>
        </p:nvPicPr>
        <p:blipFill>
          <a:blip r:embed="rId2"/>
          <a:stretch>
            <a:fillRect/>
          </a:stretch>
        </p:blipFill>
        <p:spPr>
          <a:xfrm>
            <a:off x="685800" y="4270075"/>
            <a:ext cx="10820400" cy="1526876"/>
          </a:xfrm>
          <a:prstGeom prst="rect">
            <a:avLst/>
          </a:prstGeom>
        </p:spPr>
      </p:pic>
    </p:spTree>
    <p:extLst>
      <p:ext uri="{BB962C8B-B14F-4D97-AF65-F5344CB8AC3E}">
        <p14:creationId xmlns:p14="http://schemas.microsoft.com/office/powerpoint/2010/main" val="3720332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A1DE6-6823-DF3F-FE35-44649B3A891C}"/>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CONSTAT DE LA DISPARITION DE LA DONNÉE (VUE UTILISATEUR)</a:t>
            </a:r>
            <a:br>
              <a:rPr lang="fr-FR" sz="2800" b="1" u="sng" dirty="0"/>
            </a:br>
            <a:br>
              <a:rPr lang="fr-FR" sz="2800" dirty="0"/>
            </a:br>
            <a:r>
              <a:rPr lang="fr-FR" sz="2000" dirty="0"/>
              <a:t>Suite à la suppression, nous constatons que l'objet « Test1.txt » n'apparaît plus dans l'arborescence du dossier. Pour un utilisateur standard, la donnée est considérée comme perdue. Cette capture valide l'efficacité de la simulation d'incident.</a:t>
            </a:r>
          </a:p>
        </p:txBody>
      </p:sp>
      <p:pic>
        <p:nvPicPr>
          <p:cNvPr id="5" name="Espace réservé du contenu 4">
            <a:extLst>
              <a:ext uri="{FF2B5EF4-FFF2-40B4-BE49-F238E27FC236}">
                <a16:creationId xmlns:a16="http://schemas.microsoft.com/office/drawing/2014/main" id="{F8621756-60D4-D694-B96A-7A7F6AED868E}"/>
              </a:ext>
            </a:extLst>
          </p:cNvPr>
          <p:cNvPicPr>
            <a:picLocks noGrp="1" noChangeAspect="1"/>
          </p:cNvPicPr>
          <p:nvPr>
            <p:ph idx="1"/>
          </p:nvPr>
        </p:nvPicPr>
        <p:blipFill>
          <a:blip r:embed="rId2"/>
          <a:stretch>
            <a:fillRect/>
          </a:stretch>
        </p:blipFill>
        <p:spPr>
          <a:xfrm>
            <a:off x="1373090" y="2596551"/>
            <a:ext cx="9445820" cy="3994030"/>
          </a:xfrm>
          <a:prstGeom prst="rect">
            <a:avLst/>
          </a:prstGeom>
        </p:spPr>
      </p:pic>
    </p:spTree>
    <p:extLst>
      <p:ext uri="{BB962C8B-B14F-4D97-AF65-F5344CB8AC3E}">
        <p14:creationId xmlns:p14="http://schemas.microsoft.com/office/powerpoint/2010/main" val="3115823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4DD5B-05B4-88CA-2A28-945F0754BA66}"/>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DÉCOUVERTE DU MARQUEUR DE SUPPRESSION (VUE ADMIN)</a:t>
            </a:r>
            <a:br>
              <a:rPr lang="fr-FR" sz="2800" b="1" u="sng" dirty="0"/>
            </a:br>
            <a:br>
              <a:rPr lang="fr-FR" sz="2800" b="1" u="sng" dirty="0"/>
            </a:br>
            <a:r>
              <a:rPr lang="fr-FR" sz="2000" dirty="0"/>
              <a:t>En activant le mode « Afficher les versions », nous révélons la vérité technique : le fichier n'a pas été effacé. AWS a simplement déposé un </a:t>
            </a:r>
            <a:r>
              <a:rPr lang="fr-FR" sz="2000" b="1" dirty="0"/>
              <a:t>« Marqueur de suppression »</a:t>
            </a:r>
            <a:r>
              <a:rPr lang="fr-FR" sz="2000" dirty="0"/>
              <a:t>  Ce marqueur agit comme un écran qui cache les versions précédentes aux yeux des utilisateurs, tout en les conservant intactes.</a:t>
            </a:r>
            <a:endParaRPr lang="fr-FR" sz="2000" b="1" u="sng" dirty="0"/>
          </a:p>
        </p:txBody>
      </p:sp>
      <p:pic>
        <p:nvPicPr>
          <p:cNvPr id="5" name="Espace réservé du contenu 4">
            <a:extLst>
              <a:ext uri="{FF2B5EF4-FFF2-40B4-BE49-F238E27FC236}">
                <a16:creationId xmlns:a16="http://schemas.microsoft.com/office/drawing/2014/main" id="{8D9A3713-11CD-D69B-737E-C4C7762576FD}"/>
              </a:ext>
            </a:extLst>
          </p:cNvPr>
          <p:cNvPicPr>
            <a:picLocks noGrp="1" noChangeAspect="1"/>
          </p:cNvPicPr>
          <p:nvPr>
            <p:ph idx="1"/>
          </p:nvPr>
        </p:nvPicPr>
        <p:blipFill>
          <a:blip r:embed="rId2"/>
          <a:stretch>
            <a:fillRect/>
          </a:stretch>
        </p:blipFill>
        <p:spPr>
          <a:xfrm>
            <a:off x="972975" y="2760663"/>
            <a:ext cx="10246049" cy="4097337"/>
          </a:xfrm>
          <a:prstGeom prst="rect">
            <a:avLst/>
          </a:prstGeom>
        </p:spPr>
      </p:pic>
      <p:sp>
        <p:nvSpPr>
          <p:cNvPr id="6" name="Ellipse 5">
            <a:extLst>
              <a:ext uri="{FF2B5EF4-FFF2-40B4-BE49-F238E27FC236}">
                <a16:creationId xmlns:a16="http://schemas.microsoft.com/office/drawing/2014/main" id="{75116F6C-3222-FD5E-78E7-52D28E222C54}"/>
              </a:ext>
            </a:extLst>
          </p:cNvPr>
          <p:cNvSpPr/>
          <p:nvPr/>
        </p:nvSpPr>
        <p:spPr>
          <a:xfrm>
            <a:off x="1354348" y="5814204"/>
            <a:ext cx="4986068" cy="707366"/>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17450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D4AFC4-C383-6654-DC9B-223A6F3B1552}"/>
              </a:ext>
            </a:extLst>
          </p:cNvPr>
          <p:cNvSpPr>
            <a:spLocks noGrp="1"/>
          </p:cNvSpPr>
          <p:nvPr>
            <p:ph type="title"/>
          </p:nvPr>
        </p:nvSpPr>
        <p:spPr/>
        <p:txBody>
          <a:bodyPr>
            <a:normAutofit fontScale="90000"/>
          </a:bodyPr>
          <a:lstStyle/>
          <a:p>
            <a:r>
              <a:rPr lang="fr-FR" sz="3200" b="1" u="sng" dirty="0"/>
              <a:t>6. Restauration</a:t>
            </a:r>
            <a:br>
              <a:rPr lang="fr-FR" sz="3200" b="1" u="sng" dirty="0"/>
            </a:br>
            <a:br>
              <a:rPr lang="fr-FR" sz="3200" b="1" u="sng" dirty="0"/>
            </a:br>
            <a:r>
              <a:rPr lang="fr-FR" sz="2000" dirty="0"/>
              <a:t>Pour annuler l'incident simulé, nous procédons à la suppression du « Marqueur de suppression ». Cette action technique permet de repositionner la version précédente de « Test1.txt » comme version actuelle et visible, prouvant ainsi l'efficacité du système de sauvegarde pour la continuité d'activité</a:t>
            </a:r>
            <a:r>
              <a:rPr lang="fr-FR" sz="3200" dirty="0"/>
              <a:t>.</a:t>
            </a:r>
            <a:endParaRPr lang="fr-FR" sz="3200" b="1" u="sng" dirty="0"/>
          </a:p>
        </p:txBody>
      </p:sp>
      <p:pic>
        <p:nvPicPr>
          <p:cNvPr id="5" name="Espace réservé du contenu 4">
            <a:extLst>
              <a:ext uri="{FF2B5EF4-FFF2-40B4-BE49-F238E27FC236}">
                <a16:creationId xmlns:a16="http://schemas.microsoft.com/office/drawing/2014/main" id="{69B105B6-6FC0-993B-1FD5-DF444A071D8F}"/>
              </a:ext>
            </a:extLst>
          </p:cNvPr>
          <p:cNvPicPr>
            <a:picLocks noGrp="1" noChangeAspect="1"/>
          </p:cNvPicPr>
          <p:nvPr>
            <p:ph idx="1"/>
          </p:nvPr>
        </p:nvPicPr>
        <p:blipFill>
          <a:blip r:embed="rId2"/>
          <a:stretch>
            <a:fillRect/>
          </a:stretch>
        </p:blipFill>
        <p:spPr>
          <a:xfrm>
            <a:off x="1837425" y="2622550"/>
            <a:ext cx="8927307" cy="3881438"/>
          </a:xfrm>
          <a:prstGeom prst="rect">
            <a:avLst/>
          </a:prstGeom>
        </p:spPr>
      </p:pic>
      <p:sp>
        <p:nvSpPr>
          <p:cNvPr id="6" name="Ellipse 5">
            <a:extLst>
              <a:ext uri="{FF2B5EF4-FFF2-40B4-BE49-F238E27FC236}">
                <a16:creationId xmlns:a16="http://schemas.microsoft.com/office/drawing/2014/main" id="{20FA6B77-BEA8-19CB-3775-0F337EA6D7AA}"/>
              </a:ext>
            </a:extLst>
          </p:cNvPr>
          <p:cNvSpPr/>
          <p:nvPr/>
        </p:nvSpPr>
        <p:spPr>
          <a:xfrm>
            <a:off x="1716656" y="5477773"/>
            <a:ext cx="4813540" cy="370936"/>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C47B3D6A-A887-1C2C-8209-83C5C0B42DC5}"/>
              </a:ext>
            </a:extLst>
          </p:cNvPr>
          <p:cNvSpPr/>
          <p:nvPr/>
        </p:nvSpPr>
        <p:spPr>
          <a:xfrm>
            <a:off x="6530196" y="4106174"/>
            <a:ext cx="862642" cy="370936"/>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87762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97652C-E274-52A4-C1DF-B5B0ACBEE8EF}"/>
              </a:ext>
            </a:extLst>
          </p:cNvPr>
          <p:cNvSpPr>
            <a:spLocks noGrp="1"/>
          </p:cNvSpPr>
          <p:nvPr>
            <p:ph type="title"/>
          </p:nvPr>
        </p:nvSpPr>
        <p:spPr>
          <a:xfrm>
            <a:off x="2895600" y="764372"/>
            <a:ext cx="8610600" cy="1737287"/>
          </a:xfrm>
        </p:spPr>
        <p:txBody>
          <a:bodyPr>
            <a:normAutofit fontScale="90000"/>
          </a:bodyPr>
          <a:lstStyle/>
          <a:p>
            <a:pPr marL="457200" indent="-457200">
              <a:buFont typeface="Arial" panose="020B0604020202020204" pitchFamily="34" charset="0"/>
              <a:buChar char="•"/>
            </a:pPr>
            <a:r>
              <a:rPr lang="fr-FR" sz="2800" b="1" u="sng" dirty="0"/>
              <a:t>CONFIRMATION TECHNIQUE DE LA RESTAURATION</a:t>
            </a:r>
            <a:br>
              <a:rPr lang="fr-FR" sz="2800" b="1" u="sng" dirty="0"/>
            </a:br>
            <a:br>
              <a:rPr lang="fr-FR" sz="2800" b="1" u="sng" dirty="0"/>
            </a:br>
            <a:r>
              <a:rPr lang="fr-FR" sz="2000" dirty="0"/>
              <a:t>Cette étape consiste à supprimer définitivement le « Marqueur de suppression ». Contrairement à la suppression d'un fichier classique, supprimer ce marqueur n'efface pas la donnée, mais retire la "couche d'invisibilité" qui recouvrait nos versions précédentes. C'est l'acte final de notre procédure de récupération</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12F9F4A3-E4D1-E1F3-CF16-48B6C0F195A2}"/>
              </a:ext>
            </a:extLst>
          </p:cNvPr>
          <p:cNvPicPr>
            <a:picLocks noGrp="1" noChangeAspect="1"/>
          </p:cNvPicPr>
          <p:nvPr>
            <p:ph idx="1"/>
          </p:nvPr>
        </p:nvPicPr>
        <p:blipFill>
          <a:blip r:embed="rId2"/>
          <a:stretch>
            <a:fillRect/>
          </a:stretch>
        </p:blipFill>
        <p:spPr>
          <a:xfrm>
            <a:off x="999790" y="2846717"/>
            <a:ext cx="10192419" cy="3830129"/>
          </a:xfrm>
          <a:prstGeom prst="rect">
            <a:avLst/>
          </a:prstGeom>
        </p:spPr>
      </p:pic>
    </p:spTree>
    <p:extLst>
      <p:ext uri="{BB962C8B-B14F-4D97-AF65-F5344CB8AC3E}">
        <p14:creationId xmlns:p14="http://schemas.microsoft.com/office/powerpoint/2010/main" val="2306408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BFC098-32D8-E439-5476-5FDA66E1C8E0}"/>
              </a:ext>
            </a:extLst>
          </p:cNvPr>
          <p:cNvSpPr>
            <a:spLocks noGrp="1"/>
          </p:cNvSpPr>
          <p:nvPr>
            <p:ph type="title"/>
          </p:nvPr>
        </p:nvSpPr>
        <p:spPr>
          <a:xfrm>
            <a:off x="2895600" y="764372"/>
            <a:ext cx="8610600" cy="2444653"/>
          </a:xfrm>
        </p:spPr>
        <p:txBody>
          <a:bodyPr>
            <a:normAutofit fontScale="90000"/>
          </a:bodyPr>
          <a:lstStyle/>
          <a:p>
            <a:pPr marL="457200" indent="-457200">
              <a:buFont typeface="Arial" panose="020B0604020202020204" pitchFamily="34" charset="0"/>
              <a:buChar char="•"/>
            </a:pPr>
            <a:r>
              <a:rPr lang="fr-FR" sz="3200" b="1" u="sng" dirty="0"/>
              <a:t>VALIDATION FINALE DE LA PROCÉDURE DE RESTAURATION</a:t>
            </a:r>
            <a:br>
              <a:rPr lang="fr-FR" sz="3200" b="1" u="sng" dirty="0"/>
            </a:br>
            <a:br>
              <a:rPr lang="fr-FR" sz="3200" b="1" u="sng" dirty="0"/>
            </a:br>
            <a:r>
              <a:rPr lang="fr-FR" sz="2000" dirty="0"/>
              <a:t>La suppression du marqueur de suppression a été effectuée avec succès, comme l'indique le bandeau vert. Ce test confirme que le </a:t>
            </a:r>
            <a:r>
              <a:rPr lang="fr-FR" sz="2000" dirty="0" err="1"/>
              <a:t>versionnement</a:t>
            </a:r>
            <a:r>
              <a:rPr lang="fr-FR" sz="2000" dirty="0"/>
              <a:t> S3 est une solution de sauvegarde robuste : il permet non seulement de conserver l'historique des modifications (itérations), mais aussi de récupérer instantanément des données après une suppression critique.</a:t>
            </a:r>
            <a:endParaRPr lang="fr-FR" sz="2000" b="1" u="sng" dirty="0"/>
          </a:p>
        </p:txBody>
      </p:sp>
      <p:pic>
        <p:nvPicPr>
          <p:cNvPr id="5" name="Espace réservé du contenu 4">
            <a:extLst>
              <a:ext uri="{FF2B5EF4-FFF2-40B4-BE49-F238E27FC236}">
                <a16:creationId xmlns:a16="http://schemas.microsoft.com/office/drawing/2014/main" id="{8AC501AC-7D1B-9C00-EEA0-666786AA1FEC}"/>
              </a:ext>
            </a:extLst>
          </p:cNvPr>
          <p:cNvPicPr>
            <a:picLocks noGrp="1" noChangeAspect="1"/>
          </p:cNvPicPr>
          <p:nvPr>
            <p:ph idx="1"/>
          </p:nvPr>
        </p:nvPicPr>
        <p:blipFill>
          <a:blip r:embed="rId2"/>
          <a:stretch>
            <a:fillRect/>
          </a:stretch>
        </p:blipFill>
        <p:spPr>
          <a:xfrm>
            <a:off x="685800" y="3648976"/>
            <a:ext cx="10820400" cy="2915726"/>
          </a:xfrm>
          <a:prstGeom prst="rect">
            <a:avLst/>
          </a:prstGeom>
        </p:spPr>
      </p:pic>
    </p:spTree>
    <p:extLst>
      <p:ext uri="{BB962C8B-B14F-4D97-AF65-F5344CB8AC3E}">
        <p14:creationId xmlns:p14="http://schemas.microsoft.com/office/powerpoint/2010/main" val="3082161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934636-A452-E897-3150-12F9858E5718}"/>
              </a:ext>
            </a:extLst>
          </p:cNvPr>
          <p:cNvSpPr>
            <a:spLocks noGrp="1"/>
          </p:cNvSpPr>
          <p:nvPr>
            <p:ph type="title"/>
          </p:nvPr>
        </p:nvSpPr>
        <p:spPr>
          <a:xfrm>
            <a:off x="2895600" y="764373"/>
            <a:ext cx="8610600" cy="1789046"/>
          </a:xfrm>
        </p:spPr>
        <p:txBody>
          <a:bodyPr>
            <a:normAutofit fontScale="90000"/>
          </a:bodyPr>
          <a:lstStyle/>
          <a:p>
            <a:pPr marL="457200" indent="-457200">
              <a:buFont typeface="Arial" panose="020B0604020202020204" pitchFamily="34" charset="0"/>
              <a:buChar char="•"/>
            </a:pPr>
            <a:r>
              <a:rPr lang="fr-FR" sz="3200" b="1" u="sng" dirty="0"/>
              <a:t>VÉRIFICATION FINALE ET RETOUR À L'ÉTAT OPÉRATIONNEL</a:t>
            </a:r>
            <a:br>
              <a:rPr lang="fr-FR" sz="3200" b="1" u="sng" dirty="0"/>
            </a:br>
            <a:br>
              <a:rPr lang="fr-FR" sz="3200" b="1" u="sng" dirty="0"/>
            </a:br>
            <a:r>
              <a:rPr lang="fr-FR" sz="2000" dirty="0"/>
              <a:t>Après avoir supprimé le marqueur de suppression, nous constatons que le fichier « Test1.txt » est à nouveau visible dans la vue standard du compartiment. La donnée a été restaurée dans sa version la plus récente sans aucune altération. Ce test conclut avec succès la démonstration de la résilience du stockage S3 face aux erreurs humaines.</a:t>
            </a:r>
            <a:endParaRPr lang="fr-FR" sz="2000" b="1" u="sng" dirty="0"/>
          </a:p>
        </p:txBody>
      </p:sp>
      <p:pic>
        <p:nvPicPr>
          <p:cNvPr id="9" name="Espace réservé du contenu 8">
            <a:extLst>
              <a:ext uri="{FF2B5EF4-FFF2-40B4-BE49-F238E27FC236}">
                <a16:creationId xmlns:a16="http://schemas.microsoft.com/office/drawing/2014/main" id="{170F321C-7B1A-DDF5-3C2C-1732F9A0DC7E}"/>
              </a:ext>
            </a:extLst>
          </p:cNvPr>
          <p:cNvPicPr>
            <a:picLocks noGrp="1" noChangeAspect="1"/>
          </p:cNvPicPr>
          <p:nvPr>
            <p:ph idx="1"/>
          </p:nvPr>
        </p:nvPicPr>
        <p:blipFill>
          <a:blip r:embed="rId2"/>
          <a:stretch>
            <a:fillRect/>
          </a:stretch>
        </p:blipFill>
        <p:spPr>
          <a:xfrm>
            <a:off x="921112" y="3191774"/>
            <a:ext cx="10349776" cy="3666226"/>
          </a:xfrm>
          <a:prstGeom prst="rect">
            <a:avLst/>
          </a:prstGeom>
        </p:spPr>
      </p:pic>
      <p:sp>
        <p:nvSpPr>
          <p:cNvPr id="10" name="Ellipse 9">
            <a:extLst>
              <a:ext uri="{FF2B5EF4-FFF2-40B4-BE49-F238E27FC236}">
                <a16:creationId xmlns:a16="http://schemas.microsoft.com/office/drawing/2014/main" id="{6200928C-9A98-5C09-39C1-CFE48528662B}"/>
              </a:ext>
            </a:extLst>
          </p:cNvPr>
          <p:cNvSpPr/>
          <p:nvPr/>
        </p:nvSpPr>
        <p:spPr>
          <a:xfrm>
            <a:off x="1414732" y="6167887"/>
            <a:ext cx="1233577" cy="336430"/>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14848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B6CC87-808E-9A25-6ED6-BC82A3C834C8}"/>
              </a:ext>
            </a:extLst>
          </p:cNvPr>
          <p:cNvSpPr>
            <a:spLocks noGrp="1"/>
          </p:cNvSpPr>
          <p:nvPr>
            <p:ph type="title"/>
          </p:nvPr>
        </p:nvSpPr>
        <p:spPr/>
        <p:txBody>
          <a:bodyPr/>
          <a:lstStyle/>
          <a:p>
            <a:r>
              <a:rPr lang="fr-FR" b="1" u="sng" dirty="0"/>
              <a:t>7. Mise en œuvre d’une politique de sauvegarde</a:t>
            </a:r>
            <a:r>
              <a:rPr lang="fr-FR" dirty="0"/>
              <a:t>: </a:t>
            </a:r>
          </a:p>
        </p:txBody>
      </p:sp>
      <p:sp>
        <p:nvSpPr>
          <p:cNvPr id="3" name="Espace réservé du contenu 2">
            <a:extLst>
              <a:ext uri="{FF2B5EF4-FFF2-40B4-BE49-F238E27FC236}">
                <a16:creationId xmlns:a16="http://schemas.microsoft.com/office/drawing/2014/main" id="{281D7D20-6615-30E6-8324-2D7389D3BB4B}"/>
              </a:ext>
            </a:extLst>
          </p:cNvPr>
          <p:cNvSpPr>
            <a:spLocks noGrp="1"/>
          </p:cNvSpPr>
          <p:nvPr>
            <p:ph idx="1"/>
          </p:nvPr>
        </p:nvSpPr>
        <p:spPr/>
        <p:txBody>
          <a:bodyPr>
            <a:normAutofit/>
          </a:bodyPr>
          <a:lstStyle/>
          <a:p>
            <a:pPr marL="0" indent="0">
              <a:buNone/>
            </a:pPr>
            <a:r>
              <a:rPr lang="fr-FR" sz="2800" dirty="0"/>
              <a:t>Une sauvegarde efficace ne doit pas dépendre d'une action humaine. La mise en place d'une politique de cycle de vie permet d'automatiser l'archivage des anciennes versions vers des classes de stockage moins coûteuses (comme S3 Glacier) ou de supprimer les versions obsolètes après un certain délai.</a:t>
            </a:r>
          </a:p>
        </p:txBody>
      </p:sp>
    </p:spTree>
    <p:extLst>
      <p:ext uri="{BB962C8B-B14F-4D97-AF65-F5344CB8AC3E}">
        <p14:creationId xmlns:p14="http://schemas.microsoft.com/office/powerpoint/2010/main" val="255878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BDC44F-2ECF-C393-4D8F-483CDF15C35A}"/>
              </a:ext>
            </a:extLst>
          </p:cNvPr>
          <p:cNvSpPr>
            <a:spLocks noGrp="1"/>
          </p:cNvSpPr>
          <p:nvPr>
            <p:ph type="title"/>
          </p:nvPr>
        </p:nvSpPr>
        <p:spPr/>
        <p:txBody>
          <a:bodyPr>
            <a:normAutofit fontScale="90000"/>
          </a:bodyPr>
          <a:lstStyle/>
          <a:p>
            <a:pPr marL="571500" indent="-571500">
              <a:buFont typeface="Arial" panose="020B0604020202020204" pitchFamily="34" charset="0"/>
              <a:buChar char="•"/>
            </a:pPr>
            <a:r>
              <a:rPr lang="fr-FR" sz="3100" b="1" u="sng" dirty="0"/>
              <a:t>Configuration de la politique de cycle de vie</a:t>
            </a:r>
            <a:br>
              <a:rPr lang="fr-FR" sz="3600" b="1" u="sng" dirty="0"/>
            </a:br>
            <a:br>
              <a:rPr lang="fr-FR" sz="3600" b="1" u="sng" dirty="0"/>
            </a:br>
            <a:r>
              <a:rPr lang="fr-FR" sz="2000" dirty="0"/>
              <a:t>Je sélectionne l'onglet </a:t>
            </a:r>
            <a:r>
              <a:rPr lang="fr-FR" sz="2000" b="1" dirty="0"/>
              <a:t>Gestion</a:t>
            </a:r>
            <a:r>
              <a:rPr lang="fr-FR" sz="2000" dirty="0"/>
              <a:t> pour configurer l'automatisation des sauvegardes et les règles de rétention</a:t>
            </a:r>
            <a:r>
              <a:rPr lang="fr-FR" sz="3600" dirty="0"/>
              <a:t>.</a:t>
            </a:r>
            <a:endParaRPr lang="fr-FR" sz="3600" u="sng" dirty="0"/>
          </a:p>
        </p:txBody>
      </p:sp>
      <p:pic>
        <p:nvPicPr>
          <p:cNvPr id="5" name="Espace réservé du contenu 4">
            <a:extLst>
              <a:ext uri="{FF2B5EF4-FFF2-40B4-BE49-F238E27FC236}">
                <a16:creationId xmlns:a16="http://schemas.microsoft.com/office/drawing/2014/main" id="{98A9FC60-D1A9-E6F3-AFEB-938013CC99FF}"/>
              </a:ext>
            </a:extLst>
          </p:cNvPr>
          <p:cNvPicPr>
            <a:picLocks noGrp="1" noChangeAspect="1"/>
          </p:cNvPicPr>
          <p:nvPr>
            <p:ph idx="1"/>
          </p:nvPr>
        </p:nvPicPr>
        <p:blipFill>
          <a:blip r:embed="rId2"/>
          <a:stretch>
            <a:fillRect/>
          </a:stretch>
        </p:blipFill>
        <p:spPr>
          <a:xfrm>
            <a:off x="1259457" y="2665562"/>
            <a:ext cx="9445924" cy="3648974"/>
          </a:xfrm>
          <a:prstGeom prst="rect">
            <a:avLst/>
          </a:prstGeom>
        </p:spPr>
      </p:pic>
      <p:sp>
        <p:nvSpPr>
          <p:cNvPr id="6" name="Ellipse 5">
            <a:extLst>
              <a:ext uri="{FF2B5EF4-FFF2-40B4-BE49-F238E27FC236}">
                <a16:creationId xmlns:a16="http://schemas.microsoft.com/office/drawing/2014/main" id="{E7E6DAA9-6FF0-6BBB-67B2-B374608FB74D}"/>
              </a:ext>
            </a:extLst>
          </p:cNvPr>
          <p:cNvSpPr/>
          <p:nvPr/>
        </p:nvSpPr>
        <p:spPr>
          <a:xfrm>
            <a:off x="5982419" y="3493698"/>
            <a:ext cx="718868" cy="314864"/>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46566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B878B-8C31-7172-F250-F0CF70F2D05E}"/>
              </a:ext>
            </a:extLst>
          </p:cNvPr>
          <p:cNvSpPr>
            <a:spLocks noGrp="1"/>
          </p:cNvSpPr>
          <p:nvPr>
            <p:ph type="title"/>
          </p:nvPr>
        </p:nvSpPr>
        <p:spPr>
          <a:xfrm>
            <a:off x="2895600" y="1155939"/>
            <a:ext cx="8610600" cy="901461"/>
          </a:xfrm>
        </p:spPr>
        <p:txBody>
          <a:bodyPr>
            <a:normAutofit fontScale="90000"/>
          </a:bodyPr>
          <a:lstStyle/>
          <a:p>
            <a:pPr marL="342900" indent="-342900">
              <a:buFont typeface="Arial" panose="020B0604020202020204" pitchFamily="34" charset="0"/>
              <a:buChar char="•"/>
            </a:pPr>
            <a:r>
              <a:rPr lang="fr-FR" sz="2200" b="1" u="sng" dirty="0"/>
              <a:t>Mise en place de l'automatisation du cycle de vie des données</a:t>
            </a:r>
            <a:br>
              <a:rPr lang="fr-FR" sz="2200" b="1" u="sng" dirty="0"/>
            </a:br>
            <a:br>
              <a:rPr lang="fr-FR" sz="2200" b="1" u="sng" dirty="0"/>
            </a:br>
            <a:r>
              <a:rPr lang="fr-FR" sz="2200" dirty="0"/>
              <a:t>Cette interface permet de définir des règles de cycle de vie pour les objets stockés dans un compartiment Amazon S3. Ces règles automatisent la gestion des données, par exemple en transférant des fichiers vers une classe de stockage moins coûteuse, en les archivant ou en les supprimant après une durée définie</a:t>
            </a:r>
            <a:r>
              <a:rPr lang="fr-FR" sz="2800" dirty="0"/>
              <a:t>.</a:t>
            </a:r>
            <a:endParaRPr lang="fr-FR" sz="2800" b="1" u="sng" dirty="0"/>
          </a:p>
        </p:txBody>
      </p:sp>
      <p:pic>
        <p:nvPicPr>
          <p:cNvPr id="5" name="Espace réservé du contenu 4">
            <a:extLst>
              <a:ext uri="{FF2B5EF4-FFF2-40B4-BE49-F238E27FC236}">
                <a16:creationId xmlns:a16="http://schemas.microsoft.com/office/drawing/2014/main" id="{8601EF1A-2ACE-4BA0-A147-6916251AB0C3}"/>
              </a:ext>
            </a:extLst>
          </p:cNvPr>
          <p:cNvPicPr>
            <a:picLocks noGrp="1" noChangeAspect="1"/>
          </p:cNvPicPr>
          <p:nvPr>
            <p:ph idx="1"/>
          </p:nvPr>
        </p:nvPicPr>
        <p:blipFill>
          <a:blip r:embed="rId2"/>
          <a:stretch>
            <a:fillRect/>
          </a:stretch>
        </p:blipFill>
        <p:spPr>
          <a:xfrm>
            <a:off x="1479448" y="3019244"/>
            <a:ext cx="8854997" cy="3692107"/>
          </a:xfrm>
          <a:prstGeom prst="rect">
            <a:avLst/>
          </a:prstGeom>
        </p:spPr>
      </p:pic>
      <p:sp>
        <p:nvSpPr>
          <p:cNvPr id="6" name="Ellipse 5">
            <a:extLst>
              <a:ext uri="{FF2B5EF4-FFF2-40B4-BE49-F238E27FC236}">
                <a16:creationId xmlns:a16="http://schemas.microsoft.com/office/drawing/2014/main" id="{72884F13-5899-2A90-8794-6104900A3387}"/>
              </a:ext>
            </a:extLst>
          </p:cNvPr>
          <p:cNvSpPr/>
          <p:nvPr/>
        </p:nvSpPr>
        <p:spPr>
          <a:xfrm>
            <a:off x="8220974" y="5132717"/>
            <a:ext cx="1854679" cy="500332"/>
          </a:xfrm>
          <a:prstGeom prst="ellipse">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12741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0BB0B-083E-090E-F178-E468C079F0B3}"/>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200" b="1" u="sng" dirty="0"/>
              <a:t>Création et nommage d’une règle de cycle de vie</a:t>
            </a:r>
            <a:br>
              <a:rPr lang="fr-FR" sz="2800" b="1" u="sng" dirty="0"/>
            </a:br>
            <a:br>
              <a:rPr lang="fr-FR" sz="2800" b="1" u="sng" dirty="0"/>
            </a:br>
            <a:r>
              <a:rPr lang="fr-FR" sz="2200" dirty="0"/>
              <a:t>Cette étape consiste à définir une règle de cycle de vie dans Amazon S3. On peut préciser un nom, choisir la portée, puis appliquer des actions automatiques comme l’archivage ou la suppression après une durée.</a:t>
            </a:r>
            <a:endParaRPr lang="fr-FR" sz="2200" b="1" u="sng" dirty="0"/>
          </a:p>
        </p:txBody>
      </p:sp>
      <p:pic>
        <p:nvPicPr>
          <p:cNvPr id="5" name="Espace réservé du contenu 4">
            <a:extLst>
              <a:ext uri="{FF2B5EF4-FFF2-40B4-BE49-F238E27FC236}">
                <a16:creationId xmlns:a16="http://schemas.microsoft.com/office/drawing/2014/main" id="{94AB1F9A-A790-58AD-A0CC-265DD4B8A30F}"/>
              </a:ext>
            </a:extLst>
          </p:cNvPr>
          <p:cNvPicPr>
            <a:picLocks noGrp="1" noChangeAspect="1"/>
          </p:cNvPicPr>
          <p:nvPr>
            <p:ph idx="1"/>
          </p:nvPr>
        </p:nvPicPr>
        <p:blipFill>
          <a:blip r:embed="rId2"/>
          <a:stretch>
            <a:fillRect/>
          </a:stretch>
        </p:blipFill>
        <p:spPr>
          <a:xfrm>
            <a:off x="1473412" y="2967487"/>
            <a:ext cx="9245175" cy="3821502"/>
          </a:xfrm>
          <a:prstGeom prst="rect">
            <a:avLst/>
          </a:prstGeom>
        </p:spPr>
      </p:pic>
      <p:sp>
        <p:nvSpPr>
          <p:cNvPr id="6" name="Ellipse 5">
            <a:extLst>
              <a:ext uri="{FF2B5EF4-FFF2-40B4-BE49-F238E27FC236}">
                <a16:creationId xmlns:a16="http://schemas.microsoft.com/office/drawing/2014/main" id="{E5C6D4B0-5A7F-CAD6-B2D1-25829FD157E1}"/>
              </a:ext>
            </a:extLst>
          </p:cNvPr>
          <p:cNvSpPr/>
          <p:nvPr/>
        </p:nvSpPr>
        <p:spPr>
          <a:xfrm>
            <a:off x="1716657" y="4317521"/>
            <a:ext cx="1837427" cy="560717"/>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54847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662705-AD07-FC1E-E89A-DDCB2E4D6685}"/>
              </a:ext>
            </a:extLst>
          </p:cNvPr>
          <p:cNvSpPr>
            <a:spLocks noGrp="1"/>
          </p:cNvSpPr>
          <p:nvPr>
            <p:ph type="title"/>
          </p:nvPr>
        </p:nvSpPr>
        <p:spPr/>
        <p:txBody>
          <a:bodyPr>
            <a:normAutofit fontScale="90000"/>
          </a:bodyPr>
          <a:lstStyle/>
          <a:p>
            <a:pPr marL="342900" indent="-342900">
              <a:buFont typeface="Arial" panose="020B0604020202020204" pitchFamily="34" charset="0"/>
              <a:buChar char="•"/>
            </a:pPr>
            <a:r>
              <a:rPr lang="fr-FR" sz="2400" b="1" u="sng" dirty="0"/>
              <a:t>Définition des actions de cycle de vie</a:t>
            </a:r>
            <a:br>
              <a:rPr lang="fr-FR" sz="2400" b="1" u="sng" dirty="0"/>
            </a:br>
            <a:br>
              <a:rPr lang="fr-FR" sz="2400" b="1" u="sng" dirty="0"/>
            </a:br>
            <a:r>
              <a:rPr lang="fr-FR" sz="1800" dirty="0"/>
              <a:t>La transition des anciennes versions permet d’optimiser les coûts en déplaçant automatiquement les fichiers obsolètes vers un stockage moins cher comme Glacier, généralement après un délai défini. Ensuite, la suppression définitive des anciennes versions assure un nettoyage efficace en éliminant celles qui dépassent une certaine durée de conservation, comme un an, afin d’éviter de payer pour un stockage inutile. Cette combinaison garantit une politique de sauvegarde à la fois économique et organisée</a:t>
            </a:r>
            <a:r>
              <a:rPr lang="fr-FR" sz="2400" dirty="0"/>
              <a:t>.</a:t>
            </a:r>
            <a:endParaRPr lang="fr-FR" sz="2400" b="1" u="sng" dirty="0"/>
          </a:p>
        </p:txBody>
      </p:sp>
      <p:pic>
        <p:nvPicPr>
          <p:cNvPr id="5" name="Espace réservé du contenu 4">
            <a:extLst>
              <a:ext uri="{FF2B5EF4-FFF2-40B4-BE49-F238E27FC236}">
                <a16:creationId xmlns:a16="http://schemas.microsoft.com/office/drawing/2014/main" id="{52E73C38-EDC6-328C-1B42-2F33B8EA8FF2}"/>
              </a:ext>
            </a:extLst>
          </p:cNvPr>
          <p:cNvPicPr>
            <a:picLocks noGrp="1" noChangeAspect="1"/>
          </p:cNvPicPr>
          <p:nvPr>
            <p:ph idx="1"/>
          </p:nvPr>
        </p:nvPicPr>
        <p:blipFill>
          <a:blip r:embed="rId2"/>
          <a:stretch>
            <a:fillRect/>
          </a:stretch>
        </p:blipFill>
        <p:spPr>
          <a:xfrm>
            <a:off x="609989" y="2691442"/>
            <a:ext cx="10195646" cy="3958116"/>
          </a:xfrm>
          <a:prstGeom prst="rect">
            <a:avLst/>
          </a:prstGeom>
        </p:spPr>
      </p:pic>
      <p:cxnSp>
        <p:nvCxnSpPr>
          <p:cNvPr id="8" name="Connecteur : en angle 7">
            <a:extLst>
              <a:ext uri="{FF2B5EF4-FFF2-40B4-BE49-F238E27FC236}">
                <a16:creationId xmlns:a16="http://schemas.microsoft.com/office/drawing/2014/main" id="{DF265DB4-98BD-BFB9-D757-32E471E67B89}"/>
              </a:ext>
            </a:extLst>
          </p:cNvPr>
          <p:cNvCxnSpPr/>
          <p:nvPr/>
        </p:nvCxnSpPr>
        <p:spPr>
          <a:xfrm>
            <a:off x="681487" y="4002657"/>
            <a:ext cx="250166" cy="146649"/>
          </a:xfrm>
          <a:prstGeom prst="bentConnector3">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 en angle 9">
            <a:extLst>
              <a:ext uri="{FF2B5EF4-FFF2-40B4-BE49-F238E27FC236}">
                <a16:creationId xmlns:a16="http://schemas.microsoft.com/office/drawing/2014/main" id="{357BE1EF-75C5-8545-E600-1CFD77FE55F4}"/>
              </a:ext>
            </a:extLst>
          </p:cNvPr>
          <p:cNvCxnSpPr/>
          <p:nvPr/>
        </p:nvCxnSpPr>
        <p:spPr>
          <a:xfrm>
            <a:off x="806570" y="4641011"/>
            <a:ext cx="125083" cy="86264"/>
          </a:xfrm>
          <a:prstGeom prst="bentConnector3">
            <a:avLst>
              <a:gd name="adj1" fmla="val -53448"/>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208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376265-72D4-6AB0-0979-A217F6E8084D}"/>
              </a:ext>
            </a:extLst>
          </p:cNvPr>
          <p:cNvSpPr>
            <a:spLocks noGrp="1"/>
          </p:cNvSpPr>
          <p:nvPr>
            <p:ph type="title"/>
          </p:nvPr>
        </p:nvSpPr>
        <p:spPr>
          <a:xfrm>
            <a:off x="2895600" y="1510393"/>
            <a:ext cx="8610600" cy="138792"/>
          </a:xfrm>
        </p:spPr>
        <p:txBody>
          <a:bodyPr>
            <a:normAutofit fontScale="90000"/>
          </a:bodyPr>
          <a:lstStyle/>
          <a:p>
            <a:pPr marL="342900" indent="-342900">
              <a:buFont typeface="Arial" panose="020B0604020202020204" pitchFamily="34" charset="0"/>
              <a:buChar char="•"/>
            </a:pPr>
            <a:r>
              <a:rPr lang="fr-FR" sz="2400" b="1" u="sng" dirty="0"/>
              <a:t>Règles de cycle de vie S3 – Archivage et Nettoyage</a:t>
            </a:r>
            <a:br>
              <a:rPr lang="fr-FR" sz="2400" b="1" u="sng" dirty="0"/>
            </a:br>
            <a:br>
              <a:rPr lang="fr-FR" sz="2400" b="1" u="sng" dirty="0"/>
            </a:br>
            <a:r>
              <a:rPr lang="fr-FR" sz="1800" dirty="0"/>
              <a:t>Cette capture montre la mise en place concrète des règles de cycle de vie dans S3. Les anciennes versions des objets sont automatiquement déplacées vers une classe de stockage moins coûteuse après 30 jours, ce qui permet de réduire les frais tout en gardant une copie en archive. Ensuite, au bout de 365 jours, ces anciennes versions sont supprimées définitivement afin d’éviter l’accumulation et le paiement de stockage inutile. Ce paramétrage illustre une politique de sauvegarde équilibrée entre optimisation des coûts et nettoyage régulier des données</a:t>
            </a:r>
            <a:r>
              <a:rPr lang="fr-FR" sz="2400" dirty="0"/>
              <a:t>.</a:t>
            </a:r>
            <a:br>
              <a:rPr lang="fr-FR" sz="2400" dirty="0"/>
            </a:br>
            <a:endParaRPr lang="fr-FR" sz="2400" b="1" u="sng" dirty="0"/>
          </a:p>
        </p:txBody>
      </p:sp>
      <p:pic>
        <p:nvPicPr>
          <p:cNvPr id="5" name="Espace réservé du contenu 4">
            <a:extLst>
              <a:ext uri="{FF2B5EF4-FFF2-40B4-BE49-F238E27FC236}">
                <a16:creationId xmlns:a16="http://schemas.microsoft.com/office/drawing/2014/main" id="{B79A845A-E806-38C8-D731-80FFD8818EF4}"/>
              </a:ext>
            </a:extLst>
          </p:cNvPr>
          <p:cNvPicPr>
            <a:picLocks noGrp="1" noChangeAspect="1"/>
          </p:cNvPicPr>
          <p:nvPr>
            <p:ph idx="1"/>
          </p:nvPr>
        </p:nvPicPr>
        <p:blipFill>
          <a:blip r:embed="rId2"/>
          <a:stretch>
            <a:fillRect/>
          </a:stretch>
        </p:blipFill>
        <p:spPr>
          <a:xfrm>
            <a:off x="1143000" y="2686049"/>
            <a:ext cx="7274379" cy="3641271"/>
          </a:xfrm>
          <a:prstGeom prst="rect">
            <a:avLst/>
          </a:prstGeom>
        </p:spPr>
      </p:pic>
      <p:cxnSp>
        <p:nvCxnSpPr>
          <p:cNvPr id="4" name="Connecteur droit avec flèche 3">
            <a:extLst>
              <a:ext uri="{FF2B5EF4-FFF2-40B4-BE49-F238E27FC236}">
                <a16:creationId xmlns:a16="http://schemas.microsoft.com/office/drawing/2014/main" id="{09DB1C2F-CCAD-F65E-87BC-2508FA2CD347}"/>
              </a:ext>
            </a:extLst>
          </p:cNvPr>
          <p:cNvCxnSpPr>
            <a:cxnSpLocks/>
          </p:cNvCxnSpPr>
          <p:nvPr/>
        </p:nvCxnSpPr>
        <p:spPr>
          <a:xfrm flipV="1">
            <a:off x="1616529" y="4367893"/>
            <a:ext cx="187778" cy="359228"/>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7DC8C608-A8E2-A287-8D45-5FE0089FBBBC}"/>
              </a:ext>
            </a:extLst>
          </p:cNvPr>
          <p:cNvCxnSpPr>
            <a:cxnSpLocks/>
          </p:cNvCxnSpPr>
          <p:nvPr/>
        </p:nvCxnSpPr>
        <p:spPr>
          <a:xfrm flipV="1">
            <a:off x="3094264" y="4425043"/>
            <a:ext cx="146957" cy="375557"/>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6C6F6A36-CF92-62A2-084B-7DAD8C228E8A}"/>
              </a:ext>
            </a:extLst>
          </p:cNvPr>
          <p:cNvCxnSpPr/>
          <p:nvPr/>
        </p:nvCxnSpPr>
        <p:spPr>
          <a:xfrm flipV="1">
            <a:off x="4833257" y="4425043"/>
            <a:ext cx="114300" cy="440871"/>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B816D248-F2C1-A553-B048-020A54AB1C5A}"/>
              </a:ext>
            </a:extLst>
          </p:cNvPr>
          <p:cNvCxnSpPr/>
          <p:nvPr/>
        </p:nvCxnSpPr>
        <p:spPr>
          <a:xfrm flipV="1">
            <a:off x="1265464" y="6123214"/>
            <a:ext cx="236765" cy="440872"/>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949F4BE0-AD8F-0121-49F7-8F68133284D4}"/>
              </a:ext>
            </a:extLst>
          </p:cNvPr>
          <p:cNvCxnSpPr/>
          <p:nvPr/>
        </p:nvCxnSpPr>
        <p:spPr>
          <a:xfrm flipH="1">
            <a:off x="5029200" y="5331279"/>
            <a:ext cx="146957" cy="465364"/>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00230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77605E-2C43-8714-4B01-1A42CA6033E7}"/>
              </a:ext>
            </a:extLst>
          </p:cNvPr>
          <p:cNvSpPr>
            <a:spLocks noGrp="1"/>
          </p:cNvSpPr>
          <p:nvPr>
            <p:ph type="title"/>
          </p:nvPr>
        </p:nvSpPr>
        <p:spPr>
          <a:xfrm>
            <a:off x="2895600" y="1812471"/>
            <a:ext cx="8610600" cy="244930"/>
          </a:xfrm>
        </p:spPr>
        <p:txBody>
          <a:bodyPr>
            <a:normAutofit fontScale="90000"/>
          </a:bodyPr>
          <a:lstStyle/>
          <a:p>
            <a:pPr marL="457200" indent="-457200">
              <a:buFont typeface="Arial" panose="020B0604020202020204" pitchFamily="34" charset="0"/>
              <a:buChar char="•"/>
            </a:pPr>
            <a:r>
              <a:rPr lang="fr-FR" sz="2800" b="1" u="sng" dirty="0"/>
              <a:t>Confirmation de la création d’une règle</a:t>
            </a:r>
            <a:br>
              <a:rPr lang="fr-FR" sz="2800" b="1" u="sng" dirty="0"/>
            </a:br>
            <a:br>
              <a:rPr lang="fr-FR" sz="2800" b="1" u="sng" dirty="0"/>
            </a:br>
            <a:r>
              <a:rPr lang="fr-FR" sz="2000" dirty="0"/>
              <a:t>Ce visuel correspond à la validation finale de la configuration : après avoir défini les délais et les actions (archivage puis suppression), on confirme la politique en cliquant sur </a:t>
            </a:r>
            <a:r>
              <a:rPr lang="fr-FR" sz="2000" b="1" dirty="0"/>
              <a:t>Créer une règle</a:t>
            </a:r>
            <a:r>
              <a:rPr lang="fr-FR" sz="2000" dirty="0"/>
              <a:t>. Cette étape officialise la mise en place du cycle de vie dans S3 et active l’automatisation de la sauvegarde et du nettoyage des données.</a:t>
            </a:r>
            <a:br>
              <a:rPr lang="fr-FR" sz="2000" dirty="0"/>
            </a:br>
            <a:br>
              <a:rPr lang="fr-FR" sz="2000" dirty="0"/>
            </a:br>
            <a:r>
              <a:rPr lang="fr-FR" sz="2000" dirty="0"/>
              <a:t>Ps: il faut cocher la case appliquer a tous les objets du compartiment</a:t>
            </a:r>
            <a:endParaRPr lang="fr-FR" sz="2000" b="1" u="sng" dirty="0"/>
          </a:p>
        </p:txBody>
      </p:sp>
      <p:pic>
        <p:nvPicPr>
          <p:cNvPr id="5" name="Espace réservé du contenu 4">
            <a:extLst>
              <a:ext uri="{FF2B5EF4-FFF2-40B4-BE49-F238E27FC236}">
                <a16:creationId xmlns:a16="http://schemas.microsoft.com/office/drawing/2014/main" id="{E755472E-5AED-0A68-7FF6-EE054A8C8F69}"/>
              </a:ext>
            </a:extLst>
          </p:cNvPr>
          <p:cNvPicPr>
            <a:picLocks noGrp="1" noChangeAspect="1"/>
          </p:cNvPicPr>
          <p:nvPr>
            <p:ph idx="1"/>
          </p:nvPr>
        </p:nvPicPr>
        <p:blipFill>
          <a:blip r:embed="rId2"/>
          <a:stretch>
            <a:fillRect/>
          </a:stretch>
        </p:blipFill>
        <p:spPr>
          <a:xfrm>
            <a:off x="685800" y="3731907"/>
            <a:ext cx="10820400" cy="1719874"/>
          </a:xfrm>
          <a:prstGeom prst="rect">
            <a:avLst/>
          </a:prstGeom>
        </p:spPr>
      </p:pic>
      <p:sp>
        <p:nvSpPr>
          <p:cNvPr id="6" name="Ellipse 5">
            <a:extLst>
              <a:ext uri="{FF2B5EF4-FFF2-40B4-BE49-F238E27FC236}">
                <a16:creationId xmlns:a16="http://schemas.microsoft.com/office/drawing/2014/main" id="{CB1181AC-4E69-55CE-120B-03DC376C2541}"/>
              </a:ext>
            </a:extLst>
          </p:cNvPr>
          <p:cNvSpPr/>
          <p:nvPr/>
        </p:nvSpPr>
        <p:spPr>
          <a:xfrm>
            <a:off x="9993086" y="4759779"/>
            <a:ext cx="1330778" cy="547007"/>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16462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CBB6D0-9C3C-CB02-D557-E1DB07BC3406}"/>
              </a:ext>
            </a:extLst>
          </p:cNvPr>
          <p:cNvSpPr>
            <a:spLocks noGrp="1"/>
          </p:cNvSpPr>
          <p:nvPr>
            <p:ph type="title"/>
          </p:nvPr>
        </p:nvSpPr>
        <p:spPr/>
        <p:txBody>
          <a:bodyPr>
            <a:normAutofit fontScale="90000"/>
          </a:bodyPr>
          <a:lstStyle/>
          <a:p>
            <a:pPr marL="457200" indent="-457200">
              <a:buFont typeface="Arial" panose="020B0604020202020204" pitchFamily="34" charset="0"/>
              <a:buChar char="•"/>
            </a:pPr>
            <a:r>
              <a:rPr lang="fr-FR" sz="2800" b="1" u="sng" dirty="0"/>
              <a:t>Activation de la politique de cycle de vie</a:t>
            </a:r>
            <a:br>
              <a:rPr lang="fr-FR" sz="2800" b="1" u="sng" dirty="0"/>
            </a:br>
            <a:br>
              <a:rPr lang="fr-FR" sz="2800" b="1" u="sng" dirty="0"/>
            </a:br>
            <a:r>
              <a:rPr lang="fr-FR" sz="2800" dirty="0"/>
              <a:t> l’image montre que la politique de sauvegarde est bien activée et opérationnelle.</a:t>
            </a:r>
            <a:endParaRPr lang="fr-FR" sz="2800" b="1" u="sng" dirty="0"/>
          </a:p>
        </p:txBody>
      </p:sp>
      <p:pic>
        <p:nvPicPr>
          <p:cNvPr id="5" name="Espace réservé du contenu 4">
            <a:extLst>
              <a:ext uri="{FF2B5EF4-FFF2-40B4-BE49-F238E27FC236}">
                <a16:creationId xmlns:a16="http://schemas.microsoft.com/office/drawing/2014/main" id="{93DADD1F-F7B3-90FB-89AC-40B27D57D84A}"/>
              </a:ext>
            </a:extLst>
          </p:cNvPr>
          <p:cNvPicPr>
            <a:picLocks noGrp="1" noChangeAspect="1"/>
          </p:cNvPicPr>
          <p:nvPr>
            <p:ph idx="1"/>
          </p:nvPr>
        </p:nvPicPr>
        <p:blipFill>
          <a:blip r:embed="rId2"/>
          <a:stretch>
            <a:fillRect/>
          </a:stretch>
        </p:blipFill>
        <p:spPr>
          <a:xfrm>
            <a:off x="685800" y="3307709"/>
            <a:ext cx="10820400" cy="1796745"/>
          </a:xfrm>
          <a:prstGeom prst="rect">
            <a:avLst/>
          </a:prstGeom>
        </p:spPr>
      </p:pic>
    </p:spTree>
    <p:extLst>
      <p:ext uri="{BB962C8B-B14F-4D97-AF65-F5344CB8AC3E}">
        <p14:creationId xmlns:p14="http://schemas.microsoft.com/office/powerpoint/2010/main" val="25974500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11813A-3B0C-C1AA-852E-F8031FFA4C3C}"/>
              </a:ext>
            </a:extLst>
          </p:cNvPr>
          <p:cNvSpPr>
            <a:spLocks noGrp="1"/>
          </p:cNvSpPr>
          <p:nvPr>
            <p:ph type="title"/>
          </p:nvPr>
        </p:nvSpPr>
        <p:spPr/>
        <p:txBody>
          <a:bodyPr/>
          <a:lstStyle/>
          <a:p>
            <a:r>
              <a:rPr lang="fr-FR" b="1" u="sng" dirty="0"/>
              <a:t>conclusion</a:t>
            </a:r>
          </a:p>
        </p:txBody>
      </p:sp>
      <p:sp>
        <p:nvSpPr>
          <p:cNvPr id="3" name="Espace réservé du contenu 2">
            <a:extLst>
              <a:ext uri="{FF2B5EF4-FFF2-40B4-BE49-F238E27FC236}">
                <a16:creationId xmlns:a16="http://schemas.microsoft.com/office/drawing/2014/main" id="{728BA4F0-9CBA-1FD9-AF0D-F02A28EC6B25}"/>
              </a:ext>
            </a:extLst>
          </p:cNvPr>
          <p:cNvSpPr>
            <a:spLocks noGrp="1"/>
          </p:cNvSpPr>
          <p:nvPr>
            <p:ph idx="1"/>
          </p:nvPr>
        </p:nvSpPr>
        <p:spPr/>
        <p:txBody>
          <a:bodyPr>
            <a:normAutofit/>
          </a:bodyPr>
          <a:lstStyle/>
          <a:p>
            <a:pPr marL="0" indent="0">
              <a:buNone/>
            </a:pPr>
            <a:r>
              <a:rPr lang="fr-FR" sz="2000" dirty="0"/>
              <a:t>La mise en place d’une politique de sauvegarde dans Amazon S3 repose sur plusieurs piliers essentiels. </a:t>
            </a:r>
            <a:r>
              <a:rPr lang="fr-FR" sz="2000" b="1" i="1" dirty="0">
                <a:solidFill>
                  <a:schemeClr val="accent2">
                    <a:lumMod val="75000"/>
                  </a:schemeClr>
                </a:solidFill>
              </a:rPr>
              <a:t>SÉCURITÉ ET INTÉGRITÉ </a:t>
            </a:r>
            <a:r>
              <a:rPr lang="fr-FR" sz="2000" dirty="0"/>
              <a:t>: L’activation du </a:t>
            </a:r>
            <a:r>
              <a:rPr lang="fr-FR" sz="2000" dirty="0" err="1"/>
              <a:t>versionnement</a:t>
            </a:r>
            <a:r>
              <a:rPr lang="fr-FR" sz="2000" dirty="0"/>
              <a:t> garantit la récupération des données en cas de suppression accidentelle ou d’attaque par ransomware. OPTIMISATION DES COÛTS : L’implémentation des règles de cycle de vie permet un archivage automatique vers S3 Glacier, réduisant les frais de stockage de manière significative</a:t>
            </a:r>
            <a:r>
              <a:rPr lang="fr-FR" sz="2000" dirty="0">
                <a:solidFill>
                  <a:schemeClr val="accent2">
                    <a:lumMod val="75000"/>
                  </a:schemeClr>
                </a:solidFill>
              </a:rPr>
              <a:t>.</a:t>
            </a:r>
            <a:r>
              <a:rPr lang="fr-FR" sz="2000" b="1" dirty="0">
                <a:solidFill>
                  <a:schemeClr val="accent2">
                    <a:lumMod val="75000"/>
                  </a:schemeClr>
                </a:solidFill>
              </a:rPr>
              <a:t> </a:t>
            </a:r>
            <a:r>
              <a:rPr lang="fr-FR" sz="2000" b="1" i="1" dirty="0">
                <a:solidFill>
                  <a:schemeClr val="accent2">
                    <a:lumMod val="75000"/>
                  </a:schemeClr>
                </a:solidFill>
              </a:rPr>
              <a:t>MAINTENANCE ZÉRO </a:t>
            </a:r>
            <a:r>
              <a:rPr lang="fr-FR" sz="2000" dirty="0"/>
              <a:t>: La configuration d’une politique de rétention assure un nettoyage autonome des données obsolètes, évitant la saturation du compartiment et respectant les bonnes pratiques de gestion des données. </a:t>
            </a:r>
            <a:r>
              <a:rPr lang="fr-FR" sz="2000" b="1" i="1" dirty="0">
                <a:solidFill>
                  <a:schemeClr val="accent2">
                    <a:lumMod val="75000"/>
                  </a:schemeClr>
                </a:solidFill>
              </a:rPr>
              <a:t>FIABILITÉ PROFESSIONNELLE </a:t>
            </a:r>
            <a:r>
              <a:rPr lang="fr-FR" sz="2000" dirty="0"/>
              <a:t>: L’infrastructure </a:t>
            </a:r>
            <a:r>
              <a:rPr lang="fr-FR" sz="2000" i="1" dirty="0" err="1"/>
              <a:t>tp</a:t>
            </a:r>
            <a:r>
              <a:rPr lang="fr-FR" sz="2000" i="1" dirty="0"/>
              <a:t>-sauvegarde-</a:t>
            </a:r>
            <a:r>
              <a:rPr lang="fr-FR" sz="2000" i="1" dirty="0" err="1"/>
              <a:t>securisee</a:t>
            </a:r>
            <a:r>
              <a:rPr lang="fr-FR" sz="2000" i="1" dirty="0"/>
              <a:t>-maquette</a:t>
            </a:r>
            <a:r>
              <a:rPr lang="fr-FR" sz="2000" dirty="0"/>
              <a:t> est désormais autonome, sécurisée et évolutive, répondant aux exigences techniques d’un système de sauvegarde professionnel.</a:t>
            </a:r>
          </a:p>
        </p:txBody>
      </p:sp>
    </p:spTree>
    <p:extLst>
      <p:ext uri="{BB962C8B-B14F-4D97-AF65-F5344CB8AC3E}">
        <p14:creationId xmlns:p14="http://schemas.microsoft.com/office/powerpoint/2010/main" val="550513667"/>
      </p:ext>
    </p:extLst>
  </p:cSld>
  <p:clrMapOvr>
    <a:masterClrMapping/>
  </p:clrMapOvr>
</p:sld>
</file>

<file path=ppt/theme/theme1.xml><?xml version="1.0" encoding="utf-8"?>
<a:theme xmlns:a="http://schemas.openxmlformats.org/drawingml/2006/main" name="Traînée de condensatio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{B20A399D-BD6E-4CD3-AB0E-E504DF132069}TF49310879-45c6-4d72-870a-c20bc0dca332625daa2d-d29620305607</Template>
  <TotalTime>2306</TotalTime>
  <Words>2126</Words>
  <Application>Microsoft Office PowerPoint</Application>
  <PresentationFormat>Grand écran</PresentationFormat>
  <Paragraphs>76</Paragraphs>
  <Slides>42</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42</vt:i4>
      </vt:variant>
    </vt:vector>
  </HeadingPairs>
  <TitlesOfParts>
    <vt:vector size="47" baseType="lpstr">
      <vt:lpstr>Arial</vt:lpstr>
      <vt:lpstr>Bahnschrift SemiLight</vt:lpstr>
      <vt:lpstr>Calibri</vt:lpstr>
      <vt:lpstr>Century Gothic</vt:lpstr>
      <vt:lpstr>Traînée de condensation</vt:lpstr>
      <vt:lpstr>TP : sauvegarde sécurisée dans le cloud.</vt:lpstr>
      <vt:lpstr>énoncé</vt:lpstr>
      <vt:lpstr>sommaire</vt:lpstr>
      <vt:lpstr>Description du projet</vt:lpstr>
      <vt:lpstr>Glossaire </vt:lpstr>
      <vt:lpstr>1.Introduction  L’image représente la page d’accueil pour gérer services cloud AWS.  </vt:lpstr>
      <vt:lpstr>Accès et Initialisation du Service S3  Cette étape établit le point d'entrée sécurisé pour centraliser et administrer l'ensemble de l'infrastructure de sauvegarde.</vt:lpstr>
      <vt:lpstr>2. Provisionnement du bucket  Création du compartiment S3 avec un nom unique</vt:lpstr>
      <vt:lpstr>Configuration du Versioning de Compartiment     L'activation du versioning permet de transformer le stockage passif en un système de protection active, capable de conserver l'historique de chaque objet pour prévenir toute perte de données définitive.</vt:lpstr>
      <vt:lpstr>CRÉATION ET NOMMAGE DU COMPARTIMENT S3  CETTE ÉTAPE PERMET DE DÉFINIR UN ESPACE DE STOCKAGE UNIQUE  ET RÉGIONALISÉ (US-EAST-2) DÉDIÉ EXCLUSIVEMENT AUX FLUX DE SAUVEGARDE DU PROJET.</vt:lpstr>
      <vt:lpstr>CONFIGURATION DU CHIFFREMENT DES DONNÉES  L'ACTIVATION DU CHIFFREMENT CÔTÉ SERVEUR (SSE-S3) GARANTIT LA CONFIDENTIALITÉ DES DONNÉES AU REPOS, RÉPONDANT AINSI AUX EXIGENCES DE SÉCURITÉ DU PROJET TPE7.</vt:lpstr>
      <vt:lpstr>GESTION DES DROITS D'ACCÈS (ACL)  LA DÉSACTIVATION DES LISTES ACL (ACCÈS CONTRÔLÉ PAR POLITIQUES) RENFORCE LA SÉCURITÉ EN CENTRALISANT LE CONTRÔLE DES ACCÈS VIA IAM, ÉVITANT AINSI TOUTE EXPOSITION ACCIDENTELLE DES DONNÉES.</vt:lpstr>
      <vt:lpstr>FINALISATION ET DÉPLOIEMENT DU COMPARTIMENT  LA VALIDATION FINALE DÉCLENCHE LE PROVISIONNEMENT DES RESSOURCES SUR L'INFRASTRUCTURE AWS, RENDANT LE SYSTÈME PRÊT À ACCUEILLIR LES PREMIERS FLUX DE SAUVEGARDE SÉCURISÉE.</vt:lpstr>
      <vt:lpstr>CONFIRMATION ET VÉRIFICATION DU DÉPLOIEMENT  LE BANDEAU VERT CONFIRME QUE LA CRÉATION de notre compartiment EST validée avec succès SANS ERREUR. </vt:lpstr>
      <vt:lpstr>3. Activation du versionning  - PRÉPARATION DU JEU DE TEST POUR LE VERSIONNEMENT  AVANT D'ACTIVER LA PERSISTENCE DES DONNÉES DANS LE CLOUD, IL EST INDISPENSABLE DE PRÉPARER DES FICHIERS LOCAUX SPÉCIFIQUES POUR VALIDER QUE CHAQUE NOUVELLE VERSION GÉNÈRE BIEN UN HISTORIQUE DISTINCT. J’ai créé un dossier test final avec deux fichiers test et test1</vt:lpstr>
      <vt:lpstr>PERSONNALISATION DU CONTENU DES FICHIERS DE TEST  L'UTILISATION DE FICHIERS AUX CONTENUS PERSONNALISÉS COMME « TEST.TXT » ET « TEST1.TXT » PERMET DE DÉMONTRER QUE LA SAUVEGARDE S3 PERSISTE L'INTÉGRALITÉ DES DONNÉES ET NON UNIQUEMENT LES DONNÉES DU FICHIER. </vt:lpstr>
      <vt:lpstr>SÉLECTION DES DONNÉES À CHARGER  LE CHARGEMENT DES FICHIERS VIA L'INTERFACE AWS PERMET D'INITIALISER LES OBJETS DANS LE CLOUD ET DE DÉFINIR LA PREMIÈRE VERSION DE RÉFÉRENCE NÉCESSAIRE AUX TESTS D'INTÉGRITÉ.</vt:lpstr>
      <vt:lpstr>DESTINATION ET LANCEMENT DU TÉLÉVERSEMENT  LA DÉFINITION DE LA DESTINATION VERS LE BUCKET CIBLE PERMET DE FINALISER LE TRANSFERT DES FICHIERS DE TEST, RENDANT LES DONNÉES ACCESSIBLES POUR LES PROCHAINES OPÉRATIONS DE SÉCURITÉ ET DE VERSIONNEMENT.</vt:lpstr>
      <vt:lpstr>VÉRIFICATION DES OBJETS DANS LE DOSSIER DE TEST  la PRÉSENCE EFFECTIVE DE L'ARBORESCENCE ET DES FICHIERS DANS LA CONSOLE S3 CONFIRME LE SUCCÈS DU TRANSFERT ET CONSTITUE LE POINT DE DÉPART DE LA GESTION DU VERSIONNEMENT ACTIF. </vt:lpstr>
      <vt:lpstr>VISUALISATION DES IDENTIFIANTS DE VERSION (VERSION ID)  L'ACTIVATION DU MODE « AFFICHER LES VERSIONS » PERMET D'EXPOSER L'IDENTIFIANT UNIQUE (ID DE VERSION) ATTRIBUÉ PAR AWS À CHAQUE OBJET, CONFIRMANT QUE LE SYSTÈME EST PRÊT À ARCHIVER TOUTE MODIFICATION FUTURE SANS ÉCRASER L'ORIGINAL.</vt:lpstr>
      <vt:lpstr>4.Test d’iteration  Lors de cette phase, nous avons effectué plusieurs téléversements du fichier test1.txt. Comme le montre la capture d'écran, le mode 'Afficher les versions' révèle que chaque itération dispose de son propre Version ID et de son propre horodatage, garantissant ainsi qu'aucune donnée n'est perdue lors des mises à jour successives."</vt:lpstr>
      <vt:lpstr>5. Simulation d’incidents</vt:lpstr>
      <vt:lpstr>SITUATION DE RÉFÉRENCE AVANT L'INCIDENT  LE MODE « AFFICHER LES VERSIONS » EST DÉSACTIVÉ, SIMULANT LA VUE QU'AURAIT UN UTILISATEUR STANDARD DANS UN ENVIRONNEMENT DE PRODUCTION.</vt:lpstr>
      <vt:lpstr>DÉCLENCHEMENT DE LA SUPPRESSION DE L'OBJET CIBLE  Le but est de simuler une erreur humaine classique : la suppression accidentelle d'un fichier important. En supprimant « Test1.txt » comme le ferait n'importe quel utilisateur, nous allons prouver que même si le fichier semble avoir disparu, le système AWS S3 le garde en sécurité « en arrière-plan » grâce au versionnement.</vt:lpstr>
      <vt:lpstr>CONFIRMATION DE LA SUPPRESSION ET MÉCANISME DE SÉCURITÉ  Avant de valider, AWS nous informe qu'il ne va pas détruire le fichier, mais lui ajouter un « marqueur de suppression ». C'est la preuve que notre configuration de versionnement fonctionne : le fichier devient invisible pour l'utilisateur, mais il n'est pas effacé du serveur.</vt:lpstr>
      <vt:lpstr>VALIDATION DE LA SUPPRESSION SÉCURISÉE  Cette étape montre la double sécurité d'AWS S3. Pour éviter toute suppression involontaire, le système oblige l'administrateur à confirmer manuellement son action. Comme indiqué dans le bandeau bleu, cette suppression n'est pas définitive : elle va simplement créer un « marqueur de suppression » qui rendra le fichier invisible, tout en conservant son historique intact.</vt:lpstr>
      <vt:lpstr>CONFIRMATION DU SUCCÈS DE LA SUPPRESSION (SIMULATION DE PERTE  Le bandeau vert confirme que le fichier a été retiré de la vue active. Pour un utilisateur classique, la donnée est désormais "perdue". Cette étape valide la réussite de notre simulation d'incident et nous place dans la situation réelle où une restauration devient nécessaire.)</vt:lpstr>
      <vt:lpstr>CONSTAT DE LA DISPARITION DE LA DONNÉE (VUE UTILISATEUR)  Suite à la suppression, nous constatons que l'objet « Test1.txt » n'apparaît plus dans l'arborescence du dossier. Pour un utilisateur standard, la donnée est considérée comme perdue. Cette capture valide l'efficacité de la simulation d'incident.</vt:lpstr>
      <vt:lpstr>DÉCOUVERTE DU MARQUEUR DE SUPPRESSION (VUE ADMIN)  En activant le mode « Afficher les versions », nous révélons la vérité technique : le fichier n'a pas été effacé. AWS a simplement déposé un « Marqueur de suppression »  Ce marqueur agit comme un écran qui cache les versions précédentes aux yeux des utilisateurs, tout en les conservant intactes.</vt:lpstr>
      <vt:lpstr>6. Restauration  Pour annuler l'incident simulé, nous procédons à la suppression du « Marqueur de suppression ». Cette action technique permet de repositionner la version précédente de « Test1.txt » comme version actuelle et visible, prouvant ainsi l'efficacité du système de sauvegarde pour la continuité d'activité.</vt:lpstr>
      <vt:lpstr>CONFIRMATION TECHNIQUE DE LA RESTAURATION  Cette étape consiste à supprimer définitivement le « Marqueur de suppression ». Contrairement à la suppression d'un fichier classique, supprimer ce marqueur n'efface pas la donnée, mais retire la "couche d'invisibilité" qui recouvrait nos versions précédentes. C'est l'acte final de notre procédure de récupération.</vt:lpstr>
      <vt:lpstr>VALIDATION FINALE DE LA PROCÉDURE DE RESTAURATION  La suppression du marqueur de suppression a été effectuée avec succès, comme l'indique le bandeau vert. Ce test confirme que le versionnement S3 est une solution de sauvegarde robuste : il permet non seulement de conserver l'historique des modifications (itérations), mais aussi de récupérer instantanément des données après une suppression critique.</vt:lpstr>
      <vt:lpstr>VÉRIFICATION FINALE ET RETOUR À L'ÉTAT OPÉRATIONNEL  Après avoir supprimé le marqueur de suppression, nous constatons que le fichier « Test1.txt » est à nouveau visible dans la vue standard du compartiment. La donnée a été restaurée dans sa version la plus récente sans aucune altération. Ce test conclut avec succès la démonstration de la résilience du stockage S3 face aux erreurs humaines.</vt:lpstr>
      <vt:lpstr>7. Mise en œuvre d’une politique de sauvegarde: </vt:lpstr>
      <vt:lpstr>Configuration de la politique de cycle de vie  Je sélectionne l'onglet Gestion pour configurer l'automatisation des sauvegardes et les règles de rétention.</vt:lpstr>
      <vt:lpstr>Mise en place de l'automatisation du cycle de vie des données  Cette interface permet de définir des règles de cycle de vie pour les objets stockés dans un compartiment Amazon S3. Ces règles automatisent la gestion des données, par exemple en transférant des fichiers vers une classe de stockage moins coûteuse, en les archivant ou en les supprimant après une durée définie.</vt:lpstr>
      <vt:lpstr>Création et nommage d’une règle de cycle de vie  Cette étape consiste à définir une règle de cycle de vie dans Amazon S3. On peut préciser un nom, choisir la portée, puis appliquer des actions automatiques comme l’archivage ou la suppression après une durée.</vt:lpstr>
      <vt:lpstr>Définition des actions de cycle de vie  La transition des anciennes versions permet d’optimiser les coûts en déplaçant automatiquement les fichiers obsolètes vers un stockage moins cher comme Glacier, généralement après un délai défini. Ensuite, la suppression définitive des anciennes versions assure un nettoyage efficace en éliminant celles qui dépassent une certaine durée de conservation, comme un an, afin d’éviter de payer pour un stockage inutile. Cette combinaison garantit une politique de sauvegarde à la fois économique et organisée.</vt:lpstr>
      <vt:lpstr>Règles de cycle de vie S3 – Archivage et Nettoyage  Cette capture montre la mise en place concrète des règles de cycle de vie dans S3. Les anciennes versions des objets sont automatiquement déplacées vers une classe de stockage moins coûteuse après 30 jours, ce qui permet de réduire les frais tout en gardant une copie en archive. Ensuite, au bout de 365 jours, ces anciennes versions sont supprimées définitivement afin d’éviter l’accumulation et le paiement de stockage inutile. Ce paramétrage illustre une politique de sauvegarde équilibrée entre optimisation des coûts et nettoyage régulier des données. </vt:lpstr>
      <vt:lpstr>Confirmation de la création d’une règle  Ce visuel correspond à la validation finale de la configuration : après avoir défini les délais et les actions (archivage puis suppression), on confirme la politique en cliquant sur Créer une règle. Cette étape officialise la mise en place du cycle de vie dans S3 et active l’automatisation de la sauvegarde et du nettoyage des données.  Ps: il faut cocher la case appliquer a tous les objets du compartiment</vt:lpstr>
      <vt:lpstr>Activation de la politique de cycle de vie   l’image montre que la politique de sauvegarde est bien activée et opérationnelle.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ADJI MAGUETTE OUSSEYNOU NDIAYE</dc:creator>
  <cp:lastModifiedBy>ADJI MAGUETTE OUSSEYNOU NDIAYE</cp:lastModifiedBy>
  <cp:revision>20</cp:revision>
  <dcterms:created xsi:type="dcterms:W3CDTF">2026-03-15T14:03:49Z</dcterms:created>
  <dcterms:modified xsi:type="dcterms:W3CDTF">2026-04-15T10:20:01Z</dcterms:modified>
</cp:coreProperties>
</file>