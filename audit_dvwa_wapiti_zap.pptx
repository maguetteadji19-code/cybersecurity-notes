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9" r:id="rId21"/>
    <p:sldId id="278" r:id="rId22"/>
    <p:sldId id="280" r:id="rId23"/>
    <p:sldId id="281" r:id="rId24"/>
    <p:sldId id="282" r:id="rId25"/>
    <p:sldId id="283"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2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377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44FA2-4CD5-6E79-A3C0-372D4441B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7D29B-3137-7A0A-496E-29707673D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949EB-6E1A-698B-B4DD-7AE42919AA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BA203-A293-D37B-BBAF-3291B758905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11525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578D0-EB1A-99C3-B76F-95E96C906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E8BDE-7397-EC78-A261-18E39761A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2BD3A-F769-2404-BA36-6E58AB8DEA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949010-D5BF-3AB5-EE6F-055F54F70D0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96792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4B64C-7FF5-6314-FB8D-3EC826B52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553B8-A956-F6BC-05FC-07AF77F71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98246-B8F5-22F6-B298-888600CC6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0FA930-456E-1B07-E1DE-797B201A866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207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6AE8-F00A-590F-BC9E-432638130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A64CF-E5F2-3083-0B00-45EF28E2E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9FD8A-49DB-E1CC-5D01-B068494AF3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FEDAC-DBB7-B921-06EC-66E5E45A31E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1773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0CA0B-2527-B9CF-42E6-20AC5931D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42631-0EA3-0E8A-275A-DE8D5DC23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5F017-4E34-6460-AB11-752DB5FAC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A1C814-73DE-4B73-C763-033A23E8D39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9957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DAA4-AD5E-F0A5-2FD1-6F57F06C5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99A80-C079-FC2B-F25B-405FE6568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ADC6A-F77D-B351-D0B6-BE4416B3A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9DCCA-2667-7917-3A42-F0EE71154C9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25794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3D4F-71AC-C5FF-2036-710ED7189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8F0CA-96E9-4098-60CB-AD53C5A37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C4579-6DA9-6ADD-6F66-5794C8A241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ED0780-DE9F-2832-E814-A2BC4064B1F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3523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0F19-FA58-E34C-826A-D5423F783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1C408-0956-4D3D-BAE4-B7C05FA91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A9D7A-7E95-A69B-AE61-43AACD4A7C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1D3ECF-7167-77C3-6031-006FEE2389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13666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809A6-02A3-5F31-35DF-680EE5F9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81A1A-B819-4125-3683-790C1AEE2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1D64F-C783-648F-5E07-A40DADD066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D5FB3-9A51-1BE8-DC61-4BF66B0039F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3839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206A-5F79-52F9-6802-1E7B34A50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4B36E-FE72-E953-8D9D-D313088D0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40AD1-451E-8C35-CA57-6379DE3E6B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4C9C77-DCF4-25E9-C196-F3F30978A10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23799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275C-56CB-9EAF-AED3-BC2D5879D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77289-2732-3692-E083-CA42A61FA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364AE-65DD-8239-22D3-E8733FC746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827B0C-0BFA-508F-7C26-FEF8193729E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6236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A779-7125-58C4-F6F7-A4A802D70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54EB4-BFFB-2A63-047B-08CD5AFA9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0E335-076C-0B2B-A4E4-071F5F7131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A435A0-69C4-E88D-EB6C-62C04AE0E25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06366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93F7-2071-6D29-124D-D2828613D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E658E-6E48-7DFB-FAA6-EAAD57DA0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8C923-71A9-B6DA-92A7-FE9F5C9F51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AD7EF-49CA-988A-CA51-2023280057E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71352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88FF-E06F-55D1-BC95-24F054327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45383-64A9-509F-5404-B77500399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9D2AE-74E7-F29C-24BD-43FA82B6D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EB2AF-6C1F-81E0-D8C1-2BFCAD61F07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6414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14D5-BE66-2690-B8F0-0E5E8B8EF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A1B0B-C90F-DD3B-5F6E-C6A3364C1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00913-7388-AEE4-29A9-44E450035C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43DAF1-0D08-38E2-6819-25F2F00C613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14423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45B1-2873-C25C-1BB4-70E65748F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15710-14E2-62F8-17FC-593204A35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807A1-840F-CC00-3820-312538F924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6FA71-0BCA-85B7-7907-21FB41F77D1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717272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D5123-DA1A-8E8E-A92B-021C81CCC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F6A48-AD52-DDF2-511E-2266F5707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9A204-65F0-8BAD-3E1F-0F2F266752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27571-72A7-002A-6DE6-F71607DE523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700263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08662-209C-9378-ECFD-6E3C2B810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4382C-48B3-77ED-3CE2-38C961C7B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DB2BB-8B32-03E8-BD7F-082A3575A1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A8145E-A75D-F155-833A-C9A99508FA8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97853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083F5-8A81-2BFD-A33B-C7032BE26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98F97-6C0E-3CA5-EC93-DA9CAEC52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F4846-E66C-48A6-A625-78144FBB67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1476E-8DD6-B6E5-5F07-347BF13AF28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34105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49D3-5E01-E160-7B7C-EA3182C6E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12359-FCB0-48F1-B197-5C0445568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98FED-DC0A-3A24-5D04-B630EABEB7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62952A-C68F-E53D-DD04-E53033FB951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137499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203C-586D-0B67-EC15-FE7F92A29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69834-0CA3-2144-6B88-85C3435B3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9457D-02F2-F33A-285C-6ED7152BE0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892B93-A97C-A67B-A8B4-39195E18AF2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29616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91E1C-05F7-8E7D-BA6A-0F3D704DD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76FBA-AF8D-189C-5670-DB3B3F32C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A1004-DB71-938C-886D-C3330E92BE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CB58B4-3D8A-6366-AE79-7C7A8ED93A0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010662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2F98-5261-AE5D-6C86-7489B3139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1D33B-2F04-F08F-98F9-5F10548FA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1FE73-11CC-4545-179D-0DD5D6C072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77155-DEB5-8785-57AC-F3B8337DFC58}"/>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713781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D4930-8E8E-5F82-4B9B-2CDAE9B06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88936-9217-71DB-DC29-506A4458F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153FE-E689-136E-B934-806766287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4437E-AD64-6DDF-A795-3559E76A4BD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026253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localhost/DVWA/setup.ph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localhos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CD4"/>
          </a:solidFill>
          <a:ln w="12700">
            <a:solidFill>
              <a:srgbClr val="00BCD4"/>
            </a:solidFill>
            <a:prstDash val="solid"/>
          </a:ln>
        </p:spPr>
      </p:sp>
      <p:sp>
        <p:nvSpPr>
          <p:cNvPr id="3" name="Text 1"/>
          <p:cNvSpPr/>
          <p:nvPr/>
        </p:nvSpPr>
        <p:spPr>
          <a:xfrm>
            <a:off x="365760" y="914400"/>
            <a:ext cx="8412480" cy="1005840"/>
          </a:xfrm>
          <a:prstGeom prst="rect">
            <a:avLst/>
          </a:prstGeom>
          <a:noFill/>
          <a:ln/>
        </p:spPr>
        <p:txBody>
          <a:bodyPr wrap="square" rtlCol="0" anchor="ctr"/>
          <a:lstStyle/>
          <a:p>
            <a:pPr marL="0" indent="0" algn="l">
              <a:buNone/>
            </a:pPr>
            <a:r>
              <a:rPr lang="en-US" sz="4000" b="1" u="sng" dirty="0">
                <a:solidFill>
                  <a:schemeClr val="accent1">
                    <a:lumMod val="60000"/>
                    <a:lumOff val="40000"/>
                  </a:schemeClr>
                </a:solidFill>
                <a:latin typeface="Calibri" pitchFamily="34" charset="0"/>
                <a:ea typeface="Calibri" pitchFamily="34" charset="-122"/>
                <a:cs typeface="Calibri" pitchFamily="34" charset="-120"/>
              </a:rPr>
              <a:t>ANALYSE DE</a:t>
            </a:r>
          </a:p>
          <a:p>
            <a:pPr marL="0" indent="0" algn="l">
              <a:buNone/>
            </a:pPr>
            <a:r>
              <a:rPr lang="en-US" sz="4000" b="1" u="sng" dirty="0">
                <a:solidFill>
                  <a:schemeClr val="accent1">
                    <a:lumMod val="60000"/>
                    <a:lumOff val="40000"/>
                  </a:schemeClr>
                </a:solidFill>
                <a:latin typeface="Calibri" pitchFamily="34" charset="0"/>
                <a:ea typeface="Calibri" pitchFamily="34" charset="-122"/>
                <a:cs typeface="Calibri" pitchFamily="34" charset="-120"/>
              </a:rPr>
              <a:t> VULNERABILITE </a:t>
            </a:r>
          </a:p>
        </p:txBody>
      </p:sp>
      <p:sp>
        <p:nvSpPr>
          <p:cNvPr id="4" name="Text 2"/>
          <p:cNvSpPr/>
          <p:nvPr/>
        </p:nvSpPr>
        <p:spPr>
          <a:xfrm>
            <a:off x="365760" y="1920240"/>
            <a:ext cx="8412480" cy="548640"/>
          </a:xfrm>
          <a:prstGeom prst="rect">
            <a:avLst/>
          </a:prstGeom>
          <a:noFill/>
          <a:ln/>
        </p:spPr>
        <p:txBody>
          <a:bodyPr wrap="square" rtlCol="0" anchor="ctr"/>
          <a:lstStyle/>
          <a:p>
            <a:pPr marL="0" indent="0" algn="l">
              <a:buNone/>
            </a:pPr>
            <a:r>
              <a:rPr lang="en-US" sz="2200" dirty="0">
                <a:solidFill>
                  <a:schemeClr val="accent1">
                    <a:lumMod val="60000"/>
                    <a:lumOff val="40000"/>
                  </a:schemeClr>
                </a:solidFill>
                <a:latin typeface="Calibri" pitchFamily="34" charset="0"/>
                <a:ea typeface="Calibri" pitchFamily="34" charset="-122"/>
                <a:cs typeface="Calibri" pitchFamily="34" charset="-120"/>
              </a:rPr>
              <a:t>DVWA  ·  Wapiti  ·   ZAP</a:t>
            </a:r>
            <a:endParaRPr lang="en-US" sz="2200" dirty="0">
              <a:solidFill>
                <a:schemeClr val="accent1">
                  <a:lumMod val="60000"/>
                  <a:lumOff val="40000"/>
                </a:schemeClr>
              </a:solidFill>
            </a:endParaRPr>
          </a:p>
        </p:txBody>
      </p:sp>
      <p:sp>
        <p:nvSpPr>
          <p:cNvPr id="5" name="Text 3"/>
          <p:cNvSpPr/>
          <p:nvPr/>
        </p:nvSpPr>
        <p:spPr>
          <a:xfrm>
            <a:off x="365760" y="2606040"/>
            <a:ext cx="7772400" cy="822960"/>
          </a:xfrm>
          <a:prstGeom prst="rect">
            <a:avLst/>
          </a:prstGeom>
          <a:noFill/>
          <a:ln/>
        </p:spPr>
        <p:txBody>
          <a:bodyPr wrap="square" rtlCol="0" anchor="ctr"/>
          <a:lstStyle/>
          <a:p>
            <a:pPr marL="0" indent="0" algn="l">
              <a:buNone/>
            </a:pPr>
            <a:r>
              <a:rPr lang="en-US" sz="1500" dirty="0">
                <a:solidFill>
                  <a:schemeClr val="accent1">
                    <a:lumMod val="60000"/>
                    <a:lumOff val="40000"/>
                  </a:schemeClr>
                </a:solidFill>
                <a:latin typeface="Calibri" pitchFamily="34" charset="0"/>
                <a:ea typeface="Calibri" pitchFamily="34" charset="-122"/>
                <a:cs typeface="Calibri" pitchFamily="34" charset="-120"/>
              </a:rPr>
              <a:t>Installation, configuration et scan de vulnérabilités</a:t>
            </a:r>
            <a:endParaRPr lang="en-US" sz="1500" dirty="0">
              <a:solidFill>
                <a:schemeClr val="accent1">
                  <a:lumMod val="60000"/>
                  <a:lumOff val="40000"/>
                </a:schemeClr>
              </a:solidFill>
            </a:endParaRPr>
          </a:p>
          <a:p>
            <a:pPr marL="0" indent="0" algn="l">
              <a:buNone/>
            </a:pPr>
            <a:r>
              <a:rPr lang="en-US" sz="1500" dirty="0">
                <a:solidFill>
                  <a:schemeClr val="accent1">
                    <a:lumMod val="60000"/>
                    <a:lumOff val="40000"/>
                  </a:schemeClr>
                </a:solidFill>
                <a:latin typeface="Calibri" pitchFamily="34" charset="0"/>
                <a:ea typeface="Calibri" pitchFamily="34" charset="-122"/>
                <a:cs typeface="Calibri" pitchFamily="34" charset="-120"/>
              </a:rPr>
              <a:t>sur Ubuntu Desktop</a:t>
            </a:r>
            <a:endParaRPr lang="en-US" sz="1500" dirty="0">
              <a:solidFill>
                <a:schemeClr val="accent1">
                  <a:lumMod val="60000"/>
                  <a:lumOff val="40000"/>
                </a:schemeClr>
              </a:solidFill>
            </a:endParaRPr>
          </a:p>
        </p:txBody>
      </p:sp>
      <p:sp>
        <p:nvSpPr>
          <p:cNvPr id="6" name="Shape 4"/>
          <p:cNvSpPr/>
          <p:nvPr/>
        </p:nvSpPr>
        <p:spPr>
          <a:xfrm>
            <a:off x="445540" y="3978253"/>
            <a:ext cx="2011680" cy="411480"/>
          </a:xfrm>
          <a:prstGeom prst="rect">
            <a:avLst/>
          </a:prstGeom>
          <a:solidFill>
            <a:srgbClr val="1565C0"/>
          </a:solidFill>
          <a:ln w="12700">
            <a:solidFill>
              <a:srgbClr val="1565C0"/>
            </a:solidFill>
            <a:prstDash val="solid"/>
          </a:ln>
        </p:spPr>
      </p:sp>
      <p:sp>
        <p:nvSpPr>
          <p:cNvPr id="7" name="Text 5"/>
          <p:cNvSpPr/>
          <p:nvPr/>
        </p:nvSpPr>
        <p:spPr>
          <a:xfrm>
            <a:off x="365760" y="3841707"/>
            <a:ext cx="2011680" cy="684573"/>
          </a:xfrm>
          <a:prstGeom prst="rect">
            <a:avLst/>
          </a:prstGeom>
          <a:noFill/>
          <a:ln/>
        </p:spPr>
        <p:txBody>
          <a:bodyPr wrap="square" rtlCol="0" anchor="ctr"/>
          <a:lstStyle/>
          <a:p>
            <a:pPr marL="0" indent="0" algn="ctr">
              <a:buNone/>
            </a:pPr>
            <a:r>
              <a:rPr lang="en-US" sz="1400" dirty="0">
                <a:solidFill>
                  <a:schemeClr val="bg1">
                    <a:lumMod val="95000"/>
                  </a:schemeClr>
                </a:solidFill>
              </a:rPr>
              <a:t>ENCADREUR: MR CISSE</a:t>
            </a:r>
          </a:p>
          <a:p>
            <a:pPr marL="0" indent="0" algn="ctr">
              <a:buNone/>
            </a:pPr>
            <a:r>
              <a:rPr lang="en-US" sz="1400" dirty="0">
                <a:solidFill>
                  <a:schemeClr val="bg1">
                    <a:lumMod val="95000"/>
                  </a:schemeClr>
                </a:solidFill>
              </a:rPr>
              <a:t>MODULE: PENTEST</a:t>
            </a:r>
          </a:p>
        </p:txBody>
      </p:sp>
      <p:pic>
        <p:nvPicPr>
          <p:cNvPr id="8" name="Image 7" descr="Technology Programs - BEM TECH">
            <a:extLst>
              <a:ext uri="{FF2B5EF4-FFF2-40B4-BE49-F238E27FC236}">
                <a16:creationId xmlns:a16="http://schemas.microsoft.com/office/drawing/2014/main" id="{AC89E470-FAE9-BD64-665B-98253CC2F49A}"/>
              </a:ext>
            </a:extLst>
          </p:cNvPr>
          <p:cNvPicPr>
            <a:picLocks noChangeAspect="1"/>
          </p:cNvPicPr>
          <p:nvPr/>
        </p:nvPicPr>
        <p:blipFill>
          <a:blip r:embed="rId3"/>
          <a:stretch>
            <a:fillRect/>
          </a:stretch>
        </p:blipFill>
        <p:spPr>
          <a:xfrm>
            <a:off x="5315798" y="433113"/>
            <a:ext cx="3105150" cy="14185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0ED9B0E-8DAE-E7F1-F980-F24FD7B5AE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EC2C29-A98F-9A70-0D9E-8A429DA74C4C}"/>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8EF9D221-017F-3486-8E79-93B35AF3A0BC}"/>
              </a:ext>
            </a:extLst>
          </p:cNvPr>
          <p:cNvSpPr/>
          <p:nvPr/>
        </p:nvSpPr>
        <p:spPr>
          <a:xfrm>
            <a:off x="365760" y="1724472"/>
            <a:ext cx="8412480" cy="195768"/>
          </a:xfrm>
          <a:prstGeom prst="rect">
            <a:avLst/>
          </a:prstGeom>
          <a:noFill/>
          <a:ln/>
        </p:spPr>
        <p:txBody>
          <a:bodyPr wrap="square" rtlCol="0" anchor="ctr"/>
          <a:lstStyle/>
          <a:p>
            <a:pPr marL="0" indent="0" algn="ctr">
              <a:buNone/>
            </a:pPr>
            <a:r>
              <a:rPr lang="en-US" sz="4000" b="1" dirty="0">
                <a:solidFill>
                  <a:schemeClr val="accent1">
                    <a:lumMod val="60000"/>
                    <a:lumOff val="40000"/>
                  </a:schemeClr>
                </a:solidFill>
                <a:latin typeface="Calibri" pitchFamily="34" charset="0"/>
                <a:ea typeface="Calibri" pitchFamily="34" charset="-122"/>
                <a:cs typeface="Calibri" pitchFamily="34" charset="-120"/>
              </a:rPr>
              <a:t>INTRODUCTION</a:t>
            </a:r>
          </a:p>
          <a:p>
            <a:pPr algn="ctr"/>
            <a:r>
              <a:rPr lang="en-US" sz="4000" b="1" dirty="0">
                <a:solidFill>
                  <a:srgbClr val="FFFFFF"/>
                </a:solidFill>
                <a:latin typeface="Calibri" pitchFamily="34" charset="0"/>
                <a:ea typeface="Calibri" pitchFamily="34" charset="-122"/>
                <a:cs typeface="Calibri" pitchFamily="34" charset="-120"/>
              </a:rPr>
              <a:t>  </a:t>
            </a:r>
            <a:r>
              <a:rPr lang="fr-FR" sz="2400" dirty="0">
                <a:solidFill>
                  <a:schemeClr val="bg1"/>
                </a:solidFill>
              </a:rPr>
              <a:t>CE TP PORTE SUR L'ANALYSE DE VULNÉRABILITÉ DE L'APPLICATION DVWA SUR UBUNTU. L'OBJECTIF EST D'IDENTIFIER LES FAILLES DE SÉCURITÉ EN UTILISANT LES OUTILS WAPITI ET ZAP POUR L’ANALYSE DE VULNERABILITE DE MACHINE UBUNTU</a:t>
            </a:r>
            <a:endParaRPr lang="en-US" sz="2400" dirty="0">
              <a:solidFill>
                <a:schemeClr val="bg1"/>
              </a:solidFill>
              <a:latin typeface="Calibri" pitchFamily="34" charset="0"/>
              <a:ea typeface="Calibri" pitchFamily="34" charset="-122"/>
              <a:cs typeface="Calibri" pitchFamily="34" charset="-120"/>
            </a:endParaRPr>
          </a:p>
        </p:txBody>
      </p:sp>
      <p:sp>
        <p:nvSpPr>
          <p:cNvPr id="4" name="Text 2">
            <a:extLst>
              <a:ext uri="{FF2B5EF4-FFF2-40B4-BE49-F238E27FC236}">
                <a16:creationId xmlns:a16="http://schemas.microsoft.com/office/drawing/2014/main" id="{25528D2D-1067-877F-A0BA-699CCF6CF81D}"/>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E71AF87E-972A-98D6-C435-0B5A96122E4A}"/>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spTree>
    <p:extLst>
      <p:ext uri="{BB962C8B-B14F-4D97-AF65-F5344CB8AC3E}">
        <p14:creationId xmlns:p14="http://schemas.microsoft.com/office/powerpoint/2010/main" val="2865674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A705914-5C80-F7BA-309F-67F03A7AD8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B5D419-AB16-B39C-CB3F-10F688885AD1}"/>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470B7812-BBDD-0FDE-9097-82AE35E9ECDE}"/>
              </a:ext>
            </a:extLst>
          </p:cNvPr>
          <p:cNvSpPr/>
          <p:nvPr/>
        </p:nvSpPr>
        <p:spPr>
          <a:xfrm>
            <a:off x="365760" y="2088292"/>
            <a:ext cx="8412480" cy="184820"/>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PRÉPARATION DE L'ENVIRONNEMENT</a:t>
            </a:r>
            <a:r>
              <a:rPr lang="en-US" sz="4000" b="1" u="sng" dirty="0">
                <a:solidFill>
                  <a:schemeClr val="accent1">
                    <a:lumMod val="60000"/>
                    <a:lumOff val="40000"/>
                  </a:schemeClr>
                </a:solidFill>
                <a:latin typeface="Calibri" pitchFamily="34" charset="0"/>
                <a:ea typeface="Calibri" pitchFamily="34" charset="-122"/>
                <a:cs typeface="Calibri" pitchFamily="34" charset="-120"/>
              </a:rPr>
              <a:t>  </a:t>
            </a:r>
          </a:p>
          <a:p>
            <a:pPr algn="ctr"/>
            <a:endParaRPr lang="en-US" sz="4000" b="1" dirty="0">
              <a:solidFill>
                <a:srgbClr val="FFFFFF"/>
              </a:solidFill>
              <a:latin typeface="Calibri" pitchFamily="34" charset="0"/>
              <a:ea typeface="Calibri" pitchFamily="34" charset="-122"/>
              <a:cs typeface="Calibri" pitchFamily="34" charset="-120"/>
            </a:endParaRPr>
          </a:p>
          <a:p>
            <a:pPr algn="ctr"/>
            <a:endParaRPr lang="en-US" sz="4000" b="1" dirty="0">
              <a:solidFill>
                <a:srgbClr val="FFFFFF"/>
              </a:solidFill>
              <a:latin typeface="Calibri" pitchFamily="34" charset="0"/>
              <a:ea typeface="Calibri" pitchFamily="34" charset="-122"/>
              <a:cs typeface="Calibri" pitchFamily="34" charset="-120"/>
            </a:endParaRPr>
          </a:p>
          <a:p>
            <a:r>
              <a:rPr lang="en-US" dirty="0">
                <a:solidFill>
                  <a:schemeClr val="accent1">
                    <a:lumMod val="60000"/>
                    <a:lumOff val="40000"/>
                  </a:schemeClr>
                </a:solidFill>
                <a:latin typeface="Calibri" pitchFamily="34" charset="0"/>
                <a:ea typeface="Calibri" pitchFamily="34" charset="-122"/>
                <a:cs typeface="Calibri" pitchFamily="34" charset="-120"/>
              </a:rPr>
              <a:t>CONFIGURER LE SERVER POUR HEBERGER L ‘ APPLICATION VULNERABLE DVWA</a:t>
            </a:r>
          </a:p>
        </p:txBody>
      </p:sp>
      <p:sp>
        <p:nvSpPr>
          <p:cNvPr id="4" name="Text 2">
            <a:extLst>
              <a:ext uri="{FF2B5EF4-FFF2-40B4-BE49-F238E27FC236}">
                <a16:creationId xmlns:a16="http://schemas.microsoft.com/office/drawing/2014/main" id="{D24B712E-2755-2311-B34F-5E91D0F1C89F}"/>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4FFBF908-853C-5960-97AD-766EC3C737B1}"/>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B5D87550-4941-8704-6F7F-FFA1FEB2EB0E}"/>
              </a:ext>
            </a:extLst>
          </p:cNvPr>
          <p:cNvPicPr>
            <a:picLocks noChangeAspect="1"/>
          </p:cNvPicPr>
          <p:nvPr/>
        </p:nvPicPr>
        <p:blipFill>
          <a:blip r:embed="rId3"/>
          <a:stretch>
            <a:fillRect/>
          </a:stretch>
        </p:blipFill>
        <p:spPr>
          <a:xfrm>
            <a:off x="251933" y="1944333"/>
            <a:ext cx="6947257" cy="730288"/>
          </a:xfrm>
          <a:prstGeom prst="rect">
            <a:avLst/>
          </a:prstGeom>
        </p:spPr>
      </p:pic>
    </p:spTree>
    <p:extLst>
      <p:ext uri="{BB962C8B-B14F-4D97-AF65-F5344CB8AC3E}">
        <p14:creationId xmlns:p14="http://schemas.microsoft.com/office/powerpoint/2010/main" val="221707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962A88F-C181-D241-CFAE-AF9364B3C6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5BD83-39F6-8507-9238-11C8011680D3}"/>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AE946083-0328-43E7-F9EF-BD6DD75D3BC1}"/>
              </a:ext>
            </a:extLst>
          </p:cNvPr>
          <p:cNvSpPr/>
          <p:nvPr/>
        </p:nvSpPr>
        <p:spPr>
          <a:xfrm>
            <a:off x="365760" y="2088292"/>
            <a:ext cx="8412480" cy="184820"/>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VÉRIFICATION DES SERVICES : </a:t>
            </a:r>
            <a:r>
              <a:rPr lang="fr-FR" dirty="0">
                <a:solidFill>
                  <a:schemeClr val="accent1">
                    <a:lumMod val="60000"/>
                    <a:lumOff val="40000"/>
                  </a:schemeClr>
                </a:solidFill>
              </a:rPr>
              <a:t>CONFIRMATION QUE LES SERVICES SONT PRETS A FAIRE TOURNER DVWA</a:t>
            </a:r>
          </a:p>
          <a:p>
            <a:r>
              <a:rPr lang="en-US" b="1" dirty="0">
                <a:solidFill>
                  <a:schemeClr val="accent1">
                    <a:lumMod val="60000"/>
                    <a:lumOff val="40000"/>
                  </a:schemeClr>
                </a:solidFill>
                <a:latin typeface="Calibri" pitchFamily="34" charset="0"/>
                <a:ea typeface="Calibri" pitchFamily="34" charset="-122"/>
                <a:cs typeface="Calibri" pitchFamily="34" charset="-120"/>
              </a:rPr>
              <a:t>  </a:t>
            </a:r>
          </a:p>
          <a:p>
            <a:pPr algn="ctr"/>
            <a:endParaRPr lang="en-US" sz="4000" b="1" dirty="0">
              <a:solidFill>
                <a:srgbClr val="FFFFFF"/>
              </a:solidFill>
              <a:latin typeface="Calibri" pitchFamily="34" charset="0"/>
              <a:ea typeface="Calibri" pitchFamily="34" charset="-122"/>
              <a:cs typeface="Calibri" pitchFamily="34" charset="-120"/>
            </a:endParaRPr>
          </a:p>
          <a:p>
            <a:pPr algn="ctr"/>
            <a:endParaRPr lang="en-US" sz="4000" b="1" dirty="0">
              <a:solidFill>
                <a:srgbClr val="FFFFFF"/>
              </a:solidFill>
              <a:latin typeface="Calibri" pitchFamily="34" charset="0"/>
              <a:ea typeface="Calibri" pitchFamily="34" charset="-122"/>
              <a:cs typeface="Calibri" pitchFamily="34" charset="-120"/>
            </a:endParaRPr>
          </a:p>
        </p:txBody>
      </p:sp>
      <p:sp>
        <p:nvSpPr>
          <p:cNvPr id="4" name="Text 2">
            <a:extLst>
              <a:ext uri="{FF2B5EF4-FFF2-40B4-BE49-F238E27FC236}">
                <a16:creationId xmlns:a16="http://schemas.microsoft.com/office/drawing/2014/main" id="{20DAC2D7-45C1-5F1E-D83B-FCF19F240B10}"/>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E89566E6-802A-1A6A-FEF2-B254D6649DD1}"/>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62935F2F-D695-A2DD-F16A-D89DC4BE14D6}"/>
              </a:ext>
            </a:extLst>
          </p:cNvPr>
          <p:cNvPicPr>
            <a:picLocks noChangeAspect="1"/>
          </p:cNvPicPr>
          <p:nvPr/>
        </p:nvPicPr>
        <p:blipFill>
          <a:blip r:embed="rId3"/>
          <a:stretch>
            <a:fillRect/>
          </a:stretch>
        </p:blipFill>
        <p:spPr>
          <a:xfrm>
            <a:off x="252071" y="2105174"/>
            <a:ext cx="3831837" cy="1530429"/>
          </a:xfrm>
          <a:prstGeom prst="rect">
            <a:avLst/>
          </a:prstGeom>
        </p:spPr>
      </p:pic>
      <p:pic>
        <p:nvPicPr>
          <p:cNvPr id="10" name="Image 9">
            <a:extLst>
              <a:ext uri="{FF2B5EF4-FFF2-40B4-BE49-F238E27FC236}">
                <a16:creationId xmlns:a16="http://schemas.microsoft.com/office/drawing/2014/main" id="{DDA69DF0-E4B3-8009-D4B6-1D04C208FFBE}"/>
              </a:ext>
            </a:extLst>
          </p:cNvPr>
          <p:cNvPicPr>
            <a:picLocks noChangeAspect="1"/>
          </p:cNvPicPr>
          <p:nvPr/>
        </p:nvPicPr>
        <p:blipFill>
          <a:blip r:embed="rId4"/>
          <a:stretch>
            <a:fillRect/>
          </a:stretch>
        </p:blipFill>
        <p:spPr>
          <a:xfrm>
            <a:off x="4353748" y="2105174"/>
            <a:ext cx="4150172" cy="1530429"/>
          </a:xfrm>
          <a:prstGeom prst="rect">
            <a:avLst/>
          </a:prstGeom>
        </p:spPr>
      </p:pic>
    </p:spTree>
    <p:extLst>
      <p:ext uri="{BB962C8B-B14F-4D97-AF65-F5344CB8AC3E}">
        <p14:creationId xmlns:p14="http://schemas.microsoft.com/office/powerpoint/2010/main" val="831513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AE6C438D-DD19-6FE8-BD56-7E7FF1A548B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BF437F-D1D7-756C-9F40-304B1D6EF46C}"/>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F5D9B595-1BC2-4397-BF50-345753A0BEDC}"/>
              </a:ext>
            </a:extLst>
          </p:cNvPr>
          <p:cNvSpPr/>
          <p:nvPr/>
        </p:nvSpPr>
        <p:spPr>
          <a:xfrm>
            <a:off x="365760" y="2088292"/>
            <a:ext cx="8412480" cy="184820"/>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Installation de DVWA: </a:t>
            </a:r>
            <a:r>
              <a:rPr lang="fr-FR" dirty="0">
                <a:solidFill>
                  <a:schemeClr val="accent1">
                    <a:lumMod val="60000"/>
                    <a:lumOff val="40000"/>
                  </a:schemeClr>
                </a:solidFill>
              </a:rPr>
              <a:t>CONFIRMATION QUE LES SERVICES SONT PRETS A FAIRE TOURNER DVWA</a:t>
            </a:r>
          </a:p>
          <a:p>
            <a:r>
              <a:rPr lang="en-US" b="1" dirty="0">
                <a:solidFill>
                  <a:schemeClr val="bg1"/>
                </a:solidFill>
                <a:latin typeface="Calibri" pitchFamily="34" charset="0"/>
                <a:ea typeface="Calibri" pitchFamily="34" charset="-122"/>
                <a:cs typeface="Calibri" pitchFamily="34" charset="-120"/>
              </a:rPr>
              <a:t>  </a:t>
            </a:r>
          </a:p>
          <a:p>
            <a:pPr algn="ctr"/>
            <a:r>
              <a:rPr lang="fr-FR" sz="1600" dirty="0">
                <a:solidFill>
                  <a:schemeClr val="bg1"/>
                </a:solidFill>
              </a:rPr>
              <a:t>ON CLONE LE DÉPÔT OFFICIEL DE DVWA DEPUIS GITHUB DANS LE DOSSIER /var/www/html D'APACHE. GIT TÉLÉCHARGE LES 5703 FICHIERS DU PROJET . UNE FOIS TERMINÉ, DVWA EST PRÊT À ÊTRE CONFIGURÉ.</a:t>
            </a:r>
            <a:endParaRPr lang="en-US" sz="1600" b="1" dirty="0">
              <a:solidFill>
                <a:schemeClr val="bg1"/>
              </a:solidFill>
              <a:latin typeface="Calibri" pitchFamily="34" charset="0"/>
              <a:ea typeface="Calibri" pitchFamily="34" charset="-122"/>
              <a:cs typeface="Calibri" pitchFamily="34" charset="-120"/>
            </a:endParaRPr>
          </a:p>
          <a:p>
            <a:pPr algn="ctr"/>
            <a:endParaRPr lang="en-US" sz="4000" b="1" dirty="0">
              <a:solidFill>
                <a:srgbClr val="FFFFFF"/>
              </a:solidFill>
              <a:latin typeface="Calibri" pitchFamily="34" charset="0"/>
              <a:ea typeface="Calibri" pitchFamily="34" charset="-122"/>
              <a:cs typeface="Calibri" pitchFamily="34" charset="-120"/>
            </a:endParaRPr>
          </a:p>
        </p:txBody>
      </p:sp>
      <p:sp>
        <p:nvSpPr>
          <p:cNvPr id="4" name="Text 2">
            <a:extLst>
              <a:ext uri="{FF2B5EF4-FFF2-40B4-BE49-F238E27FC236}">
                <a16:creationId xmlns:a16="http://schemas.microsoft.com/office/drawing/2014/main" id="{12DE8EEE-8E38-968E-B210-0CD5FB9EB1DA}"/>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5203ACCE-4C0A-1EE0-6F47-740D4CF7A761}"/>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B5EECADA-6F9A-CFF2-F8F3-F590D6E420CE}"/>
              </a:ext>
            </a:extLst>
          </p:cNvPr>
          <p:cNvPicPr>
            <a:picLocks noChangeAspect="1"/>
          </p:cNvPicPr>
          <p:nvPr/>
        </p:nvPicPr>
        <p:blipFill>
          <a:blip r:embed="rId3"/>
          <a:stretch>
            <a:fillRect/>
          </a:stretch>
        </p:blipFill>
        <p:spPr>
          <a:xfrm>
            <a:off x="559063" y="2898104"/>
            <a:ext cx="4711942" cy="1212912"/>
          </a:xfrm>
          <a:prstGeom prst="rect">
            <a:avLst/>
          </a:prstGeom>
        </p:spPr>
      </p:pic>
    </p:spTree>
    <p:extLst>
      <p:ext uri="{BB962C8B-B14F-4D97-AF65-F5344CB8AC3E}">
        <p14:creationId xmlns:p14="http://schemas.microsoft.com/office/powerpoint/2010/main" val="2823114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C40DE92-A2BB-29A2-A403-3685875C2D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93A37C5-1520-FF24-0E58-BAB10A07112D}"/>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D2766FFB-4A95-B803-ED44-DC76E2814ECA}"/>
              </a:ext>
            </a:extLst>
          </p:cNvPr>
          <p:cNvSpPr/>
          <p:nvPr/>
        </p:nvSpPr>
        <p:spPr>
          <a:xfrm>
            <a:off x="365760" y="957358"/>
            <a:ext cx="8412480" cy="1315754"/>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CONFIGURATION DE DVWA</a:t>
            </a:r>
            <a:r>
              <a:rPr lang="fr-FR" sz="2800" u="sng" dirty="0">
                <a:solidFill>
                  <a:schemeClr val="bg1"/>
                </a:solidFill>
              </a:rPr>
              <a:t>:</a:t>
            </a:r>
          </a:p>
          <a:p>
            <a:pPr marL="457200" indent="-457200">
              <a:buFont typeface="Arial" panose="020B0604020202020204" pitchFamily="34" charset="0"/>
              <a:buChar char="•"/>
            </a:pPr>
            <a:endParaRPr lang="fr-FR" sz="2800" u="sng" dirty="0">
              <a:solidFill>
                <a:schemeClr val="bg1"/>
              </a:solidFill>
            </a:endParaRPr>
          </a:p>
          <a:p>
            <a:r>
              <a:rPr lang="fr-FR" sz="1400" dirty="0">
                <a:solidFill>
                  <a:schemeClr val="bg1"/>
                </a:solidFill>
              </a:rPr>
              <a:t>ON COPIE LE FICHIER DE CONFIGURATION PAR DÉFAUT ET ON DONNE LES DROITS D'ACCÈS AU SERVEUR APACHE SUR LE DOSSIER DVWA. CES DEUX COMMANDES SONT ESSENTIELLES POUR QUE DVWA FONCTIONNE CORRECTEMENT.</a:t>
            </a:r>
            <a:endParaRPr lang="en-US" sz="1400" b="1" dirty="0">
              <a:solidFill>
                <a:schemeClr val="bg1"/>
              </a:solidFill>
              <a:latin typeface="Calibri" pitchFamily="34" charset="0"/>
              <a:ea typeface="Calibri" pitchFamily="34" charset="-122"/>
              <a:cs typeface="Calibri" pitchFamily="34" charset="-120"/>
            </a:endParaRPr>
          </a:p>
        </p:txBody>
      </p:sp>
      <p:sp>
        <p:nvSpPr>
          <p:cNvPr id="4" name="Text 2">
            <a:extLst>
              <a:ext uri="{FF2B5EF4-FFF2-40B4-BE49-F238E27FC236}">
                <a16:creationId xmlns:a16="http://schemas.microsoft.com/office/drawing/2014/main" id="{2F10FC7A-06B7-DAA1-E2FB-54260D80FED8}"/>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B2D6C6B2-AFF8-C9F6-EE90-DB9379D35B44}"/>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57145B86-1AA8-EF5A-0B5D-FED772273C82}"/>
              </a:ext>
            </a:extLst>
          </p:cNvPr>
          <p:cNvPicPr>
            <a:picLocks noChangeAspect="1"/>
          </p:cNvPicPr>
          <p:nvPr/>
        </p:nvPicPr>
        <p:blipFill>
          <a:blip r:embed="rId3"/>
          <a:stretch>
            <a:fillRect/>
          </a:stretch>
        </p:blipFill>
        <p:spPr>
          <a:xfrm>
            <a:off x="284483" y="2801808"/>
            <a:ext cx="6991709" cy="406421"/>
          </a:xfrm>
          <a:prstGeom prst="rect">
            <a:avLst/>
          </a:prstGeom>
        </p:spPr>
      </p:pic>
    </p:spTree>
    <p:extLst>
      <p:ext uri="{BB962C8B-B14F-4D97-AF65-F5344CB8AC3E}">
        <p14:creationId xmlns:p14="http://schemas.microsoft.com/office/powerpoint/2010/main" val="1486721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1F200A0-F562-8CDA-034F-F392410868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6C9643-7930-51C2-F8AC-A92E724CB4FD}"/>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58966759-33E1-2C53-F79B-5418B96DF566}"/>
              </a:ext>
            </a:extLst>
          </p:cNvPr>
          <p:cNvSpPr/>
          <p:nvPr/>
        </p:nvSpPr>
        <p:spPr>
          <a:xfrm>
            <a:off x="365760" y="1236016"/>
            <a:ext cx="8412480" cy="1037095"/>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CRÉATION DE LA BASE DE DONNÉES:</a:t>
            </a:r>
          </a:p>
          <a:p>
            <a:pPr marL="457200" indent="-457200">
              <a:buFont typeface="Arial" panose="020B0604020202020204" pitchFamily="34" charset="0"/>
              <a:buChar char="•"/>
            </a:pPr>
            <a:endParaRPr lang="fr-FR" sz="2800" u="sng" dirty="0">
              <a:solidFill>
                <a:schemeClr val="bg1"/>
              </a:solidFill>
            </a:endParaRPr>
          </a:p>
          <a:p>
            <a:endParaRPr lang="fr-FR" sz="2800" u="sng" dirty="0">
              <a:solidFill>
                <a:schemeClr val="bg1"/>
              </a:solidFill>
            </a:endParaRPr>
          </a:p>
          <a:p>
            <a:r>
              <a:rPr lang="fr-FR" sz="1400" dirty="0">
                <a:solidFill>
                  <a:schemeClr val="bg1"/>
                </a:solidFill>
              </a:rPr>
              <a:t>ON CRÉE LA BASE DE DONNÉES "DVWA", UN UTILISATEUR DÉDIÉ AVEC SON MOT DE PASSE, ET ON LUI ACCORDE TOUS LES DROITS SUR CETTE BASE. LA COMMANDE FLUSH PRIVILEGES APPLIQUE LES CHANGEMENTS IMMÉDIATEMENT.</a:t>
            </a:r>
            <a:endParaRPr lang="fr-FR" sz="1400" u="sng" dirty="0">
              <a:solidFill>
                <a:schemeClr val="bg1"/>
              </a:solidFill>
            </a:endParaRPr>
          </a:p>
        </p:txBody>
      </p:sp>
      <p:sp>
        <p:nvSpPr>
          <p:cNvPr id="4" name="Text 2">
            <a:extLst>
              <a:ext uri="{FF2B5EF4-FFF2-40B4-BE49-F238E27FC236}">
                <a16:creationId xmlns:a16="http://schemas.microsoft.com/office/drawing/2014/main" id="{B6ACA5FB-D77B-C593-9D34-0EF3F8B0BAEB}"/>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D173E2C6-0D2E-6C8B-E074-964A81700BDF}"/>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4943D52E-6392-073C-C705-27FEE320A424}"/>
              </a:ext>
            </a:extLst>
          </p:cNvPr>
          <p:cNvPicPr>
            <a:picLocks noChangeAspect="1"/>
          </p:cNvPicPr>
          <p:nvPr/>
        </p:nvPicPr>
        <p:blipFill>
          <a:blip r:embed="rId3"/>
          <a:stretch>
            <a:fillRect/>
          </a:stretch>
        </p:blipFill>
        <p:spPr>
          <a:xfrm>
            <a:off x="365760" y="3094908"/>
            <a:ext cx="7772400" cy="413331"/>
          </a:xfrm>
          <a:prstGeom prst="rect">
            <a:avLst/>
          </a:prstGeom>
        </p:spPr>
      </p:pic>
    </p:spTree>
    <p:extLst>
      <p:ext uri="{BB962C8B-B14F-4D97-AF65-F5344CB8AC3E}">
        <p14:creationId xmlns:p14="http://schemas.microsoft.com/office/powerpoint/2010/main" val="4189631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0392C2B-9106-126E-FEBC-CE5C28AE61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01FA6-256D-92B9-B5C0-20530336B5CE}"/>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4CB51D2D-25B6-F553-8A06-EBDD60C4B011}"/>
              </a:ext>
            </a:extLst>
          </p:cNvPr>
          <p:cNvSpPr/>
          <p:nvPr/>
        </p:nvSpPr>
        <p:spPr>
          <a:xfrm>
            <a:off x="635784" y="1157465"/>
            <a:ext cx="8412480" cy="1037095"/>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FICHIER DE CONFIGURATION PHP:</a:t>
            </a:r>
          </a:p>
          <a:p>
            <a:pPr marL="457200" indent="-457200">
              <a:buFont typeface="Arial" panose="020B0604020202020204" pitchFamily="34" charset="0"/>
              <a:buChar char="•"/>
            </a:pPr>
            <a:endParaRPr lang="fr-FR" sz="2800" u="sng" dirty="0">
              <a:solidFill>
                <a:schemeClr val="accent1">
                  <a:lumMod val="60000"/>
                  <a:lumOff val="40000"/>
                </a:schemeClr>
              </a:solidFill>
            </a:endParaRPr>
          </a:p>
          <a:p>
            <a:r>
              <a:rPr lang="fr-FR" sz="1400" dirty="0">
                <a:solidFill>
                  <a:schemeClr val="bg1"/>
                </a:solidFill>
              </a:rPr>
              <a:t>ON VÉRIFIE QUE LE FICHIER CONFIG.INC.PHP CONTIENT LES BONNES INFORMATIONS DE CONNEXION : NOM DE LA BASE DE DONNÉES "DVWA", L'UTILISATEUR "DVWA" ET SON MOT DE PASSE. CES VALEURS PERMETTENT À DVWA DE SE CONNECTER À MARIADB.</a:t>
            </a:r>
            <a:endParaRPr lang="fr-FR" sz="1400" u="sng" dirty="0">
              <a:solidFill>
                <a:schemeClr val="bg1"/>
              </a:solidFill>
            </a:endParaRPr>
          </a:p>
        </p:txBody>
      </p:sp>
      <p:sp>
        <p:nvSpPr>
          <p:cNvPr id="4" name="Text 2">
            <a:extLst>
              <a:ext uri="{FF2B5EF4-FFF2-40B4-BE49-F238E27FC236}">
                <a16:creationId xmlns:a16="http://schemas.microsoft.com/office/drawing/2014/main" id="{53438DE4-ACAD-A9F1-BDC9-667B80530C9B}"/>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442B2128-C43F-8A0C-EDC1-63EE08DE9F61}"/>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F368AEC7-3DA1-DCDF-7D29-889AD1D80F70}"/>
              </a:ext>
            </a:extLst>
          </p:cNvPr>
          <p:cNvPicPr>
            <a:picLocks noChangeAspect="1"/>
          </p:cNvPicPr>
          <p:nvPr/>
        </p:nvPicPr>
        <p:blipFill>
          <a:blip r:embed="rId3"/>
          <a:stretch>
            <a:fillRect/>
          </a:stretch>
        </p:blipFill>
        <p:spPr>
          <a:xfrm>
            <a:off x="1698952" y="2924503"/>
            <a:ext cx="3892750" cy="355618"/>
          </a:xfrm>
          <a:prstGeom prst="rect">
            <a:avLst/>
          </a:prstGeom>
        </p:spPr>
      </p:pic>
    </p:spTree>
    <p:extLst>
      <p:ext uri="{BB962C8B-B14F-4D97-AF65-F5344CB8AC3E}">
        <p14:creationId xmlns:p14="http://schemas.microsoft.com/office/powerpoint/2010/main" val="3579377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B4D5FC6-C690-0C46-9552-A83E2C3A90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EDF4DA0-1C6E-084D-C5CF-9E722A5DCC61}"/>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FC4986CE-79B4-585C-0753-23C7F06DB4A2}"/>
              </a:ext>
            </a:extLst>
          </p:cNvPr>
          <p:cNvSpPr/>
          <p:nvPr/>
        </p:nvSpPr>
        <p:spPr>
          <a:xfrm>
            <a:off x="635784" y="1077685"/>
            <a:ext cx="8412480" cy="1037095"/>
          </a:xfrm>
          <a:prstGeom prst="rect">
            <a:avLst/>
          </a:prstGeom>
          <a:noFill/>
          <a:ln/>
        </p:spPr>
        <p:txBody>
          <a:bodyPr wrap="square" rtlCol="0" anchor="ctr"/>
          <a:lstStyle/>
          <a:p>
            <a:pPr marL="457200" indent="-457200">
              <a:buFont typeface="Arial" panose="020B0604020202020204" pitchFamily="34" charset="0"/>
              <a:buChar char="•"/>
            </a:pPr>
            <a:r>
              <a:rPr lang="fr-FR" sz="2400" u="sng" dirty="0">
                <a:solidFill>
                  <a:schemeClr val="accent1">
                    <a:lumMod val="60000"/>
                    <a:lumOff val="40000"/>
                  </a:schemeClr>
                </a:solidFill>
              </a:rPr>
              <a:t>PAGE DE SETUP DVWA</a:t>
            </a:r>
            <a:r>
              <a:rPr lang="fr-FR" sz="2800" u="sng" dirty="0">
                <a:solidFill>
                  <a:schemeClr val="accent1">
                    <a:lumMod val="60000"/>
                    <a:lumOff val="40000"/>
                  </a:schemeClr>
                </a:solidFill>
              </a:rPr>
              <a:t>:</a:t>
            </a:r>
          </a:p>
          <a:p>
            <a:pPr marL="457200" indent="-457200">
              <a:buFont typeface="Arial" panose="020B0604020202020204" pitchFamily="34" charset="0"/>
              <a:buChar char="•"/>
            </a:pPr>
            <a:endParaRPr lang="fr-FR" sz="2800" u="sng" dirty="0">
              <a:solidFill>
                <a:schemeClr val="bg1"/>
              </a:solidFill>
            </a:endParaRPr>
          </a:p>
          <a:p>
            <a:r>
              <a:rPr lang="fr-FR" sz="1400" dirty="0">
                <a:solidFill>
                  <a:schemeClr val="bg1"/>
                </a:solidFill>
              </a:rPr>
              <a:t>ON ACCÈDE À </a:t>
            </a:r>
            <a:r>
              <a:rPr lang="fr-FR" sz="1400" dirty="0">
                <a:solidFill>
                  <a:schemeClr val="bg1"/>
                </a:solidFill>
                <a:hlinkClick r:id="rId3">
                  <a:extLst>
                    <a:ext uri="{A12FA001-AC4F-418D-AE19-62706E023703}">
                      <ahyp:hlinkClr xmlns:ahyp="http://schemas.microsoft.com/office/drawing/2018/hyperlinkcolor" val="tx"/>
                    </a:ext>
                  </a:extLst>
                </a:hlinkClick>
              </a:rPr>
              <a:t>http://localhost/DVWA/setup.php</a:t>
            </a:r>
            <a:r>
              <a:rPr lang="fr-FR" sz="1400" dirty="0">
                <a:solidFill>
                  <a:schemeClr val="bg1"/>
                </a:solidFill>
              </a:rPr>
              <a:t> DEPUIS LE NAVIGATEUR. CETTE PAGE VÉRIFIE QUE TOUS LES PRÉREQUIS SONT EN PLACE : APACHE, PHP 8.1, LES DOSSIERS AVEC LES BONS DROITS. ON CLIQUE SUR "CREATE / RESET DATABASE" POUR INITIALISER LA BASE DE DONNÉES.</a:t>
            </a:r>
            <a:endParaRPr lang="fr-FR" sz="14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1F13A88B-419E-9E2D-0F7C-6D4A45EB2B4D}"/>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CD4860BF-EBA4-5429-4772-A0D1EE982EE8}"/>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93284CBD-DA6E-F9E8-A098-979AE46941E7}"/>
              </a:ext>
            </a:extLst>
          </p:cNvPr>
          <p:cNvPicPr>
            <a:picLocks noChangeAspect="1"/>
          </p:cNvPicPr>
          <p:nvPr/>
        </p:nvPicPr>
        <p:blipFill>
          <a:blip r:embed="rId4"/>
          <a:stretch>
            <a:fillRect/>
          </a:stretch>
        </p:blipFill>
        <p:spPr>
          <a:xfrm>
            <a:off x="365760" y="2657284"/>
            <a:ext cx="5235719" cy="2301342"/>
          </a:xfrm>
          <a:prstGeom prst="rect">
            <a:avLst/>
          </a:prstGeom>
        </p:spPr>
      </p:pic>
    </p:spTree>
    <p:extLst>
      <p:ext uri="{BB962C8B-B14F-4D97-AF65-F5344CB8AC3E}">
        <p14:creationId xmlns:p14="http://schemas.microsoft.com/office/powerpoint/2010/main" val="2395072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2D4F752-4E22-A8CF-FFFB-6F43BCDBEB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C0C46F-D334-2FEC-AF1C-BDD1523F13AB}"/>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75E88DDC-0787-8A32-3BFD-BF79C64B9CE8}"/>
              </a:ext>
            </a:extLst>
          </p:cNvPr>
          <p:cNvSpPr/>
          <p:nvPr/>
        </p:nvSpPr>
        <p:spPr>
          <a:xfrm>
            <a:off x="463951" y="559137"/>
            <a:ext cx="8412480" cy="1037095"/>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accent1">
                    <a:lumMod val="60000"/>
                    <a:lumOff val="40000"/>
                  </a:schemeClr>
                </a:solidFill>
              </a:rPr>
              <a:t>INITIALISATION DE LA BASE DE DONNÉES:</a:t>
            </a:r>
          </a:p>
          <a:p>
            <a:pPr marL="457200" indent="-457200">
              <a:buFont typeface="Arial" panose="020B0604020202020204" pitchFamily="34" charset="0"/>
              <a:buChar char="•"/>
            </a:pPr>
            <a:endParaRPr lang="fr-FR" sz="2800" u="sng" dirty="0">
              <a:solidFill>
                <a:schemeClr val="accent1">
                  <a:lumMod val="60000"/>
                  <a:lumOff val="40000"/>
                </a:schemeClr>
              </a:solidFill>
            </a:endParaRPr>
          </a:p>
          <a:p>
            <a:r>
              <a:rPr lang="fr-FR" sz="1400" dirty="0">
                <a:solidFill>
                  <a:schemeClr val="bg1"/>
                </a:solidFill>
              </a:rPr>
              <a:t>ON CLIQUE SUR LE BOUTON "CREATE / RESET DATABASE" EN BAS DE LA PAGE SETUP.PHP. CETTE ACTION CRÉE TOUTES LES TABLES NÉCESSAIRES DANS MARIADB ET INITIALISE LES DONNÉES PAR DÉFAUT DE DVWA. IDENTIFIANTS PAR DÉFAUT : admin / </a:t>
            </a:r>
            <a:r>
              <a:rPr lang="fr-FR" sz="1400" dirty="0" err="1">
                <a:solidFill>
                  <a:schemeClr val="bg1"/>
                </a:solidFill>
              </a:rPr>
              <a:t>password</a:t>
            </a:r>
            <a:r>
              <a:rPr lang="fr-FR" sz="1400" dirty="0">
                <a:solidFill>
                  <a:schemeClr val="bg1"/>
                </a:solidFill>
              </a:rPr>
              <a:t>.</a:t>
            </a:r>
            <a:endParaRPr lang="fr-FR" sz="1400" u="sng" dirty="0">
              <a:solidFill>
                <a:schemeClr val="bg1"/>
              </a:solidFill>
            </a:endParaRPr>
          </a:p>
        </p:txBody>
      </p:sp>
      <p:sp>
        <p:nvSpPr>
          <p:cNvPr id="4" name="Text 2">
            <a:extLst>
              <a:ext uri="{FF2B5EF4-FFF2-40B4-BE49-F238E27FC236}">
                <a16:creationId xmlns:a16="http://schemas.microsoft.com/office/drawing/2014/main" id="{15F7B520-CED8-B638-AC3E-FAFBDDB391E1}"/>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ECF9201F-D1BC-B26A-2923-9B93A519F37C}"/>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48D100BB-4B42-898F-2D62-19831F119A6A}"/>
              </a:ext>
            </a:extLst>
          </p:cNvPr>
          <p:cNvPicPr>
            <a:picLocks noChangeAspect="1"/>
          </p:cNvPicPr>
          <p:nvPr/>
        </p:nvPicPr>
        <p:blipFill>
          <a:blip r:embed="rId3"/>
          <a:stretch>
            <a:fillRect/>
          </a:stretch>
        </p:blipFill>
        <p:spPr>
          <a:xfrm>
            <a:off x="1262158" y="2674602"/>
            <a:ext cx="2495678" cy="685835"/>
          </a:xfrm>
          <a:prstGeom prst="rect">
            <a:avLst/>
          </a:prstGeom>
        </p:spPr>
      </p:pic>
      <p:sp>
        <p:nvSpPr>
          <p:cNvPr id="9" name="Ellipse 8">
            <a:extLst>
              <a:ext uri="{FF2B5EF4-FFF2-40B4-BE49-F238E27FC236}">
                <a16:creationId xmlns:a16="http://schemas.microsoft.com/office/drawing/2014/main" id="{93903CFC-5184-24AE-F98A-9542520C4983}"/>
              </a:ext>
            </a:extLst>
          </p:cNvPr>
          <p:cNvSpPr/>
          <p:nvPr/>
        </p:nvSpPr>
        <p:spPr>
          <a:xfrm>
            <a:off x="1571050" y="2945718"/>
            <a:ext cx="1258067" cy="20865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9065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FBBC612-E068-4224-B0AF-722C958AAD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5CE9BDD-99F8-ACB7-DA4C-068A9B05017C}"/>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D8C935D1-ED6A-5A50-88C7-A3D02F41A0E4}"/>
              </a:ext>
            </a:extLst>
          </p:cNvPr>
          <p:cNvSpPr/>
          <p:nvPr/>
        </p:nvSpPr>
        <p:spPr>
          <a:xfrm>
            <a:off x="463951" y="908222"/>
            <a:ext cx="8412480" cy="3181864"/>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bg1"/>
                </a:solidFill>
              </a:rPr>
              <a:t>NIVEAU DE SÉCURITÉ  LOW:</a:t>
            </a:r>
          </a:p>
          <a:p>
            <a:endParaRPr lang="fr-FR" sz="2800" u="sng" dirty="0">
              <a:solidFill>
                <a:schemeClr val="bg1"/>
              </a:solidFill>
            </a:endParaRPr>
          </a:p>
          <a:p>
            <a:r>
              <a:rPr lang="fr-FR" sz="1400" dirty="0">
                <a:solidFill>
                  <a:schemeClr val="bg1"/>
                </a:solidFill>
              </a:rPr>
              <a:t>DANS LA SECTION "DVWA SECURITY", ON CHANGE LE NIVEAU DE</a:t>
            </a:r>
          </a:p>
          <a:p>
            <a:r>
              <a:rPr lang="fr-FR" sz="1400" dirty="0">
                <a:solidFill>
                  <a:schemeClr val="bg1"/>
                </a:solidFill>
              </a:rPr>
              <a:t> SÉCURITÉ DE "IMPOSSIBLE" À "LOW" ET ON CLIQUE SUR SUBMIT.</a:t>
            </a:r>
          </a:p>
          <a:p>
            <a:r>
              <a:rPr lang="fr-FR" sz="1400" dirty="0">
                <a:solidFill>
                  <a:schemeClr val="bg1"/>
                </a:solidFill>
              </a:rPr>
              <a:t> LE NIVEAU LOW LAISSE TOUTES LES VULNÉRABILITÉS ACTIVES ET</a:t>
            </a:r>
          </a:p>
          <a:p>
            <a:r>
              <a:rPr lang="fr-FR" sz="1400" dirty="0">
                <a:solidFill>
                  <a:schemeClr val="bg1"/>
                </a:solidFill>
              </a:rPr>
              <a:t> ACCESSIBLES : SQL INJECTION, XSS, COMMAND INJECTION, </a:t>
            </a:r>
          </a:p>
          <a:p>
            <a:r>
              <a:rPr lang="fr-FR" sz="1400" dirty="0">
                <a:solidFill>
                  <a:schemeClr val="bg1"/>
                </a:solidFill>
              </a:rPr>
              <a:t>FILE UPLOAD, ETC.</a:t>
            </a:r>
          </a:p>
          <a:p>
            <a:endParaRPr lang="fr-FR" sz="14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7B920930-6306-FEA5-9265-AD3183E759C1}"/>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25B8A20D-5437-5C57-871C-8841663D8090}"/>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AA7F3E87-1C9C-19E2-32E7-8F6CAD298C68}"/>
              </a:ext>
            </a:extLst>
          </p:cNvPr>
          <p:cNvPicPr>
            <a:picLocks noChangeAspect="1"/>
          </p:cNvPicPr>
          <p:nvPr/>
        </p:nvPicPr>
        <p:blipFill>
          <a:blip r:embed="rId3"/>
          <a:stretch>
            <a:fillRect/>
          </a:stretch>
        </p:blipFill>
        <p:spPr>
          <a:xfrm>
            <a:off x="5470576" y="325645"/>
            <a:ext cx="3539640" cy="4286470"/>
          </a:xfrm>
          <a:prstGeom prst="rect">
            <a:avLst/>
          </a:prstGeom>
        </p:spPr>
      </p:pic>
      <p:sp>
        <p:nvSpPr>
          <p:cNvPr id="10" name="Ellipse 9">
            <a:extLst>
              <a:ext uri="{FF2B5EF4-FFF2-40B4-BE49-F238E27FC236}">
                <a16:creationId xmlns:a16="http://schemas.microsoft.com/office/drawing/2014/main" id="{D1987E5A-0565-6761-29B7-CAD9F75908C2}"/>
              </a:ext>
            </a:extLst>
          </p:cNvPr>
          <p:cNvSpPr/>
          <p:nvPr/>
        </p:nvSpPr>
        <p:spPr>
          <a:xfrm>
            <a:off x="6771503" y="1810265"/>
            <a:ext cx="1173892" cy="21006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80D65645-0279-4BF6-32FC-61EE3845C00F}"/>
              </a:ext>
            </a:extLst>
          </p:cNvPr>
          <p:cNvSpPr/>
          <p:nvPr/>
        </p:nvSpPr>
        <p:spPr>
          <a:xfrm>
            <a:off x="5480222" y="3206578"/>
            <a:ext cx="797010" cy="359582"/>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21023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41C8D0C-FD2C-662F-A90B-57C4B3274E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D3FCA6-2F5B-1C1E-EECE-5E573CBA868F}"/>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95D88BFE-D5C2-4B64-6128-4527BF7611D6}"/>
              </a:ext>
            </a:extLst>
          </p:cNvPr>
          <p:cNvSpPr/>
          <p:nvPr/>
        </p:nvSpPr>
        <p:spPr>
          <a:xfrm>
            <a:off x="463951" y="345990"/>
            <a:ext cx="8412480" cy="2051222"/>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bg1"/>
                </a:solidFill>
              </a:rPr>
              <a:t>VÉRIFICATION DE WAPITI:</a:t>
            </a:r>
          </a:p>
          <a:p>
            <a:endParaRPr lang="fr-FR" sz="2800" u="sng" dirty="0">
              <a:solidFill>
                <a:schemeClr val="bg1"/>
              </a:solidFill>
            </a:endParaRPr>
          </a:p>
          <a:p>
            <a:r>
              <a:rPr lang="fr-FR" sz="1400" dirty="0">
                <a:solidFill>
                  <a:schemeClr val="bg1"/>
                </a:solidFill>
              </a:rPr>
              <a:t>ON VÉRIFIE QUE WAPITI EST BIEN INSTALLÉ AVEC LA COMMANDE "wapiti --version". LA VERSION 3.0.4 EST CONFIRMÉE ET PRÊTE À ÊTRE UTILISÉE POUR SCANNER DVWA.</a:t>
            </a:r>
            <a:endParaRPr lang="fr-FR" sz="14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A0BB7E01-C450-DB26-E9E5-331AEF934AEE}"/>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DC4DBFAE-4BB1-331B-7CC7-10D1A1FAF489}"/>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5055E0F3-A56B-E879-7D5A-16C643E68162}"/>
              </a:ext>
            </a:extLst>
          </p:cNvPr>
          <p:cNvPicPr>
            <a:picLocks noChangeAspect="1"/>
          </p:cNvPicPr>
          <p:nvPr/>
        </p:nvPicPr>
        <p:blipFill>
          <a:blip r:embed="rId3"/>
          <a:stretch>
            <a:fillRect/>
          </a:stretch>
        </p:blipFill>
        <p:spPr>
          <a:xfrm>
            <a:off x="917549" y="2293583"/>
            <a:ext cx="4330923" cy="1447874"/>
          </a:xfrm>
          <a:prstGeom prst="rect">
            <a:avLst/>
          </a:prstGeom>
        </p:spPr>
      </p:pic>
    </p:spTree>
    <p:extLst>
      <p:ext uri="{BB962C8B-B14F-4D97-AF65-F5344CB8AC3E}">
        <p14:creationId xmlns:p14="http://schemas.microsoft.com/office/powerpoint/2010/main" val="2736341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B556B43-A8A0-376C-046C-7BBED7CD89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01DE5A-5BEA-FA1E-6F5F-58D91204C6B8}"/>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BA3C5EC1-3FD7-B406-7932-AE10A134FAAE}"/>
              </a:ext>
            </a:extLst>
          </p:cNvPr>
          <p:cNvSpPr/>
          <p:nvPr/>
        </p:nvSpPr>
        <p:spPr>
          <a:xfrm>
            <a:off x="463951" y="1223319"/>
            <a:ext cx="8412480" cy="757807"/>
          </a:xfrm>
          <a:prstGeom prst="rect">
            <a:avLst/>
          </a:prstGeom>
          <a:noFill/>
          <a:ln/>
        </p:spPr>
        <p:txBody>
          <a:bodyPr wrap="square" rtlCol="0" anchor="ctr"/>
          <a:lstStyle/>
          <a:p>
            <a:pPr marL="457200" indent="-457200">
              <a:buFont typeface="Arial" panose="020B0604020202020204" pitchFamily="34" charset="0"/>
              <a:buChar char="•"/>
            </a:pPr>
            <a:r>
              <a:rPr lang="fr-FR" sz="2800" u="sng" dirty="0">
                <a:solidFill>
                  <a:schemeClr val="bg1"/>
                </a:solidFill>
              </a:rPr>
              <a:t>RÉCUPÉRATION DU COOKIE:</a:t>
            </a:r>
          </a:p>
          <a:p>
            <a:endParaRPr lang="fr-FR" sz="2800" u="sng" dirty="0">
              <a:solidFill>
                <a:schemeClr val="bg1"/>
              </a:solidFill>
            </a:endParaRPr>
          </a:p>
          <a:p>
            <a:r>
              <a:rPr lang="fr-FR" sz="1400" dirty="0">
                <a:solidFill>
                  <a:schemeClr val="bg1"/>
                </a:solidFill>
              </a:rPr>
              <a:t>ON OUVRE LES OUTILS DÉVELOPPEUR AVEC F12, ON VA DANS "STORAGE" → "COOKIES" → "</a:t>
            </a:r>
            <a:r>
              <a:rPr lang="fr-FR" sz="1400" dirty="0">
                <a:solidFill>
                  <a:schemeClr val="bg1"/>
                </a:solidFill>
                <a:hlinkClick r:id="rId3">
                  <a:extLst>
                    <a:ext uri="{A12FA001-AC4F-418D-AE19-62706E023703}">
                      <ahyp:hlinkClr xmlns:ahyp="http://schemas.microsoft.com/office/drawing/2018/hyperlinkcolor" val="tx"/>
                    </a:ext>
                  </a:extLst>
                </a:hlinkClick>
              </a:rPr>
              <a:t>HTTP://LOCALHOST</a:t>
            </a:r>
            <a:r>
              <a:rPr lang="fr-FR" sz="1400" dirty="0">
                <a:solidFill>
                  <a:schemeClr val="bg1"/>
                </a:solidFill>
              </a:rPr>
              <a:t>". ON COPIE LA VALEUR DU PHPSESSID : "0vj9n8o488s5o4rhh8asgkhc6h" ET ON VÉRIFIE QUE LE COOKIE "SECURITY" EST BIEN SUR "LOW". CES INFORMATIONS SERONT UTILISÉES PAR WAPITI POUR ACCÉDER AUX PAGES PROTÉGÉES DE DVWA.</a:t>
            </a:r>
            <a:endParaRPr lang="fr-FR" sz="1400" u="sng" dirty="0">
              <a:solidFill>
                <a:schemeClr val="bg1"/>
              </a:solidFill>
            </a:endParaRPr>
          </a:p>
          <a:p>
            <a:pPr marL="457200" indent="-457200">
              <a:buFont typeface="Arial" panose="020B0604020202020204" pitchFamily="34" charset="0"/>
              <a:buChar char="•"/>
            </a:pPr>
            <a:endParaRPr lang="fr-FR" sz="2800" u="sng" dirty="0">
              <a:solidFill>
                <a:schemeClr val="bg1"/>
              </a:solidFill>
            </a:endParaRPr>
          </a:p>
          <a:p>
            <a:pPr marL="457200" indent="-457200">
              <a:buFont typeface="Arial" panose="020B0604020202020204" pitchFamily="34" charset="0"/>
              <a:buChar char="•"/>
            </a:pPr>
            <a:endParaRPr lang="fr-FR" sz="2800" u="sng" dirty="0">
              <a:solidFill>
                <a:schemeClr val="bg1"/>
              </a:solidFill>
            </a:endParaRPr>
          </a:p>
          <a:p>
            <a:endParaRPr lang="fr-FR" sz="28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491611B5-8805-71CC-72CF-D2257BC76444}"/>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6DE05EAC-9C50-D2F8-F8BA-239B8B4CE3B1}"/>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10" name="Image 9">
            <a:extLst>
              <a:ext uri="{FF2B5EF4-FFF2-40B4-BE49-F238E27FC236}">
                <a16:creationId xmlns:a16="http://schemas.microsoft.com/office/drawing/2014/main" id="{1F736E86-9044-A037-EECC-FB9EDFF11AD7}"/>
              </a:ext>
            </a:extLst>
          </p:cNvPr>
          <p:cNvPicPr>
            <a:picLocks noChangeAspect="1"/>
          </p:cNvPicPr>
          <p:nvPr/>
        </p:nvPicPr>
        <p:blipFill>
          <a:blip r:embed="rId4"/>
          <a:stretch>
            <a:fillRect/>
          </a:stretch>
        </p:blipFill>
        <p:spPr>
          <a:xfrm>
            <a:off x="441686" y="3482341"/>
            <a:ext cx="8109367" cy="1555830"/>
          </a:xfrm>
          <a:prstGeom prst="rect">
            <a:avLst/>
          </a:prstGeom>
        </p:spPr>
      </p:pic>
      <p:pic>
        <p:nvPicPr>
          <p:cNvPr id="12" name="Image 11">
            <a:extLst>
              <a:ext uri="{FF2B5EF4-FFF2-40B4-BE49-F238E27FC236}">
                <a16:creationId xmlns:a16="http://schemas.microsoft.com/office/drawing/2014/main" id="{F9F1D188-F104-2396-E4B5-20D945771725}"/>
              </a:ext>
            </a:extLst>
          </p:cNvPr>
          <p:cNvPicPr>
            <a:picLocks noChangeAspect="1"/>
          </p:cNvPicPr>
          <p:nvPr/>
        </p:nvPicPr>
        <p:blipFill>
          <a:blip r:embed="rId5"/>
          <a:stretch>
            <a:fillRect/>
          </a:stretch>
        </p:blipFill>
        <p:spPr>
          <a:xfrm>
            <a:off x="441686" y="1774784"/>
            <a:ext cx="8128418" cy="1593932"/>
          </a:xfrm>
          <a:prstGeom prst="rect">
            <a:avLst/>
          </a:prstGeom>
        </p:spPr>
      </p:pic>
    </p:spTree>
    <p:extLst>
      <p:ext uri="{BB962C8B-B14F-4D97-AF65-F5344CB8AC3E}">
        <p14:creationId xmlns:p14="http://schemas.microsoft.com/office/powerpoint/2010/main" val="135273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A6F91156-2DFA-843D-9589-A7520DAE01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4213EB-1C93-C06E-BC92-F509D42A5AE1}"/>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C7C13C0A-98BE-9863-DC3A-4F1E995396A4}"/>
              </a:ext>
            </a:extLst>
          </p:cNvPr>
          <p:cNvSpPr/>
          <p:nvPr/>
        </p:nvSpPr>
        <p:spPr>
          <a:xfrm>
            <a:off x="463951" y="1223319"/>
            <a:ext cx="8412480" cy="757807"/>
          </a:xfrm>
          <a:prstGeom prst="rect">
            <a:avLst/>
          </a:prstGeom>
          <a:noFill/>
          <a:ln/>
        </p:spPr>
        <p:txBody>
          <a:bodyPr wrap="square" rtlCol="0" anchor="ctr"/>
          <a:lstStyle/>
          <a:p>
            <a:r>
              <a:rPr lang="fr-FR" sz="2800" u="sng" dirty="0">
                <a:solidFill>
                  <a:schemeClr val="bg1"/>
                </a:solidFill>
              </a:rPr>
              <a:t>DÉMARRAGE DU SCAN WAPITI:</a:t>
            </a:r>
          </a:p>
          <a:p>
            <a:endParaRPr lang="fr-FR" sz="2800" u="sng" dirty="0">
              <a:solidFill>
                <a:schemeClr val="bg1"/>
              </a:solidFill>
            </a:endParaRPr>
          </a:p>
          <a:p>
            <a:r>
              <a:rPr lang="fr-FR" sz="1200" dirty="0">
                <a:solidFill>
                  <a:schemeClr val="bg1"/>
                </a:solidFill>
              </a:rPr>
              <a:t>WAPITI SE LANCE, SAUVEGARDE L'ÉTAT DU SCAN ET DÉTECTE 3 URLS ET FORMULAIRES SUR DVWA. IL CHARGE ENSUITE TOUS SES MODULES D'ATTAQUE : BACKUP, BLINDSQL, CSP, CSRF, EXEC, FILE, XSS, XXE ET BIEN D'AUTRES. LE PREMIER MODULE LANCÉ EST CSP — IL DÉTECTE QUE LA POLITIQUE CSP N'EST PAS CONFIGURÉE.</a:t>
            </a:r>
            <a:endParaRPr lang="fr-FR" sz="1200" u="sng" dirty="0">
              <a:solidFill>
                <a:schemeClr val="bg1"/>
              </a:solidFill>
            </a:endParaRPr>
          </a:p>
          <a:p>
            <a:pPr marL="457200" indent="-457200">
              <a:buFont typeface="Arial" panose="020B0604020202020204" pitchFamily="34" charset="0"/>
              <a:buChar char="•"/>
            </a:pPr>
            <a:endParaRPr lang="fr-FR" sz="2800" u="sng" dirty="0">
              <a:solidFill>
                <a:schemeClr val="bg1"/>
              </a:solidFill>
            </a:endParaRPr>
          </a:p>
          <a:p>
            <a:endParaRPr lang="fr-FR" sz="28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1F00440D-CFE6-60B4-D424-EFF3805B4F52}"/>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038F10ED-E0ED-3424-A258-5291262AE294}"/>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B0EDCD9C-9704-1B4C-8991-BB9D2F1E5C64}"/>
              </a:ext>
            </a:extLst>
          </p:cNvPr>
          <p:cNvPicPr>
            <a:picLocks noChangeAspect="1"/>
          </p:cNvPicPr>
          <p:nvPr/>
        </p:nvPicPr>
        <p:blipFill>
          <a:blip r:embed="rId3"/>
          <a:stretch>
            <a:fillRect/>
          </a:stretch>
        </p:blipFill>
        <p:spPr>
          <a:xfrm>
            <a:off x="1005840" y="2194560"/>
            <a:ext cx="6013124" cy="2772031"/>
          </a:xfrm>
          <a:prstGeom prst="rect">
            <a:avLst/>
          </a:prstGeom>
        </p:spPr>
      </p:pic>
    </p:spTree>
    <p:extLst>
      <p:ext uri="{BB962C8B-B14F-4D97-AF65-F5344CB8AC3E}">
        <p14:creationId xmlns:p14="http://schemas.microsoft.com/office/powerpoint/2010/main" val="3313036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A5438B01-4F68-E18E-2073-025A6E9D87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F1B38C0-E1AB-0865-ED6E-5390AD0F8F8F}"/>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02B4A45B-DE4E-D5A6-79CC-E3C94A06541B}"/>
              </a:ext>
            </a:extLst>
          </p:cNvPr>
          <p:cNvSpPr/>
          <p:nvPr/>
        </p:nvSpPr>
        <p:spPr>
          <a:xfrm>
            <a:off x="463951" y="1223319"/>
            <a:ext cx="8412480" cy="757807"/>
          </a:xfrm>
          <a:prstGeom prst="rect">
            <a:avLst/>
          </a:prstGeom>
          <a:noFill/>
          <a:ln/>
        </p:spPr>
        <p:txBody>
          <a:bodyPr wrap="square" rtlCol="0" anchor="ctr"/>
          <a:lstStyle/>
          <a:p>
            <a:r>
              <a:rPr lang="fr-FR" sz="2800" u="sng" dirty="0">
                <a:solidFill>
                  <a:schemeClr val="bg1"/>
                </a:solidFill>
              </a:rPr>
              <a:t>ANALYSE DES HEADERS HTTP:</a:t>
            </a:r>
          </a:p>
          <a:p>
            <a:endParaRPr lang="fr-FR" sz="2800" u="sng" dirty="0">
              <a:solidFill>
                <a:schemeClr val="bg1"/>
              </a:solidFill>
            </a:endParaRPr>
          </a:p>
          <a:p>
            <a:r>
              <a:rPr lang="fr-FR" sz="1400" dirty="0">
                <a:solidFill>
                  <a:schemeClr val="bg1"/>
                </a:solidFill>
              </a:rPr>
              <a:t>WAPITI VÉRIFIE LES HEADERS DE SÉCURITÉ HTTP. IL DÉTECTE QUE X-FRAME-OPTIONS, X-XSS-PROTECTION, X-CONTENT-TYPE-OPTIONS ET STRICT-TRANSPORT-SECURITY SONT TOUS ABSENTS. IL VÉRIFIE AUSSI QUE LE FLAG SECURE N'EST PAS ACTIVÉ SUR LE COOKIE PHPSESSID.</a:t>
            </a:r>
          </a:p>
          <a:p>
            <a:endParaRPr lang="fr-FR" sz="1400" u="sng" dirty="0">
              <a:solidFill>
                <a:schemeClr val="bg1"/>
              </a:solidFill>
            </a:endParaRPr>
          </a:p>
          <a:p>
            <a:endParaRPr lang="fr-FR" sz="14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FD2F69A1-BE12-1577-085B-D44516255C67}"/>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89EF66A8-B8E2-1EC6-F785-06F80A33F1E0}"/>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52197C0E-44D9-B444-ABDC-6A4BFB4754F5}"/>
              </a:ext>
            </a:extLst>
          </p:cNvPr>
          <p:cNvPicPr>
            <a:picLocks noChangeAspect="1"/>
          </p:cNvPicPr>
          <p:nvPr/>
        </p:nvPicPr>
        <p:blipFill>
          <a:blip r:embed="rId3"/>
          <a:stretch>
            <a:fillRect/>
          </a:stretch>
        </p:blipFill>
        <p:spPr>
          <a:xfrm>
            <a:off x="779711" y="2261286"/>
            <a:ext cx="5367775" cy="2738284"/>
          </a:xfrm>
          <a:prstGeom prst="rect">
            <a:avLst/>
          </a:prstGeom>
        </p:spPr>
      </p:pic>
    </p:spTree>
    <p:extLst>
      <p:ext uri="{BB962C8B-B14F-4D97-AF65-F5344CB8AC3E}">
        <p14:creationId xmlns:p14="http://schemas.microsoft.com/office/powerpoint/2010/main" val="897835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DE5D59E-6314-1143-E40C-36D216FBB1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4DC01E-B107-E836-DFE3-C9666907972A}"/>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3B79E2A8-8F89-ECB4-D328-21B3B127D5F3}"/>
              </a:ext>
            </a:extLst>
          </p:cNvPr>
          <p:cNvSpPr/>
          <p:nvPr/>
        </p:nvSpPr>
        <p:spPr>
          <a:xfrm>
            <a:off x="463951" y="784655"/>
            <a:ext cx="8412480" cy="1196472"/>
          </a:xfrm>
          <a:prstGeom prst="rect">
            <a:avLst/>
          </a:prstGeom>
          <a:noFill/>
          <a:ln/>
        </p:spPr>
        <p:txBody>
          <a:bodyPr wrap="square" rtlCol="0" anchor="ctr"/>
          <a:lstStyle/>
          <a:p>
            <a:r>
              <a:rPr lang="fr-FR" sz="2800" u="sng" dirty="0">
                <a:solidFill>
                  <a:schemeClr val="bg1"/>
                </a:solidFill>
              </a:rPr>
              <a:t>FIN DU SCAN ET GÉNÉRATION DU RAPPORT:</a:t>
            </a:r>
          </a:p>
          <a:p>
            <a:endParaRPr lang="fr-FR" sz="2800" u="sng" dirty="0">
              <a:solidFill>
                <a:schemeClr val="bg1"/>
              </a:solidFill>
            </a:endParaRPr>
          </a:p>
          <a:p>
            <a:r>
              <a:rPr lang="fr-FR" sz="1400" dirty="0">
                <a:solidFill>
                  <a:schemeClr val="bg1"/>
                </a:solidFill>
              </a:rPr>
              <a:t>WAPITI TERMINE L'ANALYSE EN LANÇANT LES MODULES EXEC, FILE, SQL, XSS, SSRF, REDIRECT, BLINDSQL ET PERMANENTXSS. LE SCAN EST TERMINÉ ET UN RAPPORT HTML EST GÉNÉRÉ DANS /TMP/RAPPORT_WAPITI/. IL CONTIENT TOUTES LES VULNÉRABILITÉS DÉTECTÉES.</a:t>
            </a:r>
          </a:p>
          <a:p>
            <a:endParaRPr lang="fr-FR" sz="14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4668F132-7A28-CAC4-E8B8-46811B0AF92A}"/>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2A4F8286-0035-B8DF-B688-2B3FBFD20BA7}"/>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D369D95D-20C8-C900-0607-1893F36DC4C8}"/>
              </a:ext>
            </a:extLst>
          </p:cNvPr>
          <p:cNvPicPr>
            <a:picLocks noChangeAspect="1"/>
          </p:cNvPicPr>
          <p:nvPr/>
        </p:nvPicPr>
        <p:blipFill>
          <a:blip r:embed="rId3"/>
          <a:stretch>
            <a:fillRect/>
          </a:stretch>
        </p:blipFill>
        <p:spPr>
          <a:xfrm>
            <a:off x="1311819" y="1993826"/>
            <a:ext cx="5556536" cy="2870348"/>
          </a:xfrm>
          <a:prstGeom prst="rect">
            <a:avLst/>
          </a:prstGeom>
        </p:spPr>
      </p:pic>
    </p:spTree>
    <p:extLst>
      <p:ext uri="{BB962C8B-B14F-4D97-AF65-F5344CB8AC3E}">
        <p14:creationId xmlns:p14="http://schemas.microsoft.com/office/powerpoint/2010/main" val="1241020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59F0FDA7-2BF1-A6D7-AECA-383BEB8CFE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5B8AA45-369F-5B75-91E9-88B6762863BF}"/>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5BCE1439-B77C-B49F-55F2-CDF4957C00A5}"/>
              </a:ext>
            </a:extLst>
          </p:cNvPr>
          <p:cNvSpPr/>
          <p:nvPr/>
        </p:nvSpPr>
        <p:spPr>
          <a:xfrm>
            <a:off x="463951" y="784655"/>
            <a:ext cx="8412480" cy="1050323"/>
          </a:xfrm>
          <a:prstGeom prst="rect">
            <a:avLst/>
          </a:prstGeom>
          <a:noFill/>
          <a:ln/>
        </p:spPr>
        <p:txBody>
          <a:bodyPr wrap="square" rtlCol="0" anchor="ctr"/>
          <a:lstStyle/>
          <a:p>
            <a:r>
              <a:rPr lang="fr-FR" sz="2800" u="sng" dirty="0">
                <a:solidFill>
                  <a:schemeClr val="bg1"/>
                </a:solidFill>
              </a:rPr>
              <a:t>ANALYSE DU RAPPORT WAPITI:</a:t>
            </a:r>
          </a:p>
          <a:p>
            <a:endParaRPr lang="fr-FR" sz="2800" u="sng" dirty="0">
              <a:solidFill>
                <a:schemeClr val="bg1"/>
              </a:solidFill>
            </a:endParaRPr>
          </a:p>
          <a:p>
            <a:r>
              <a:rPr lang="fr-FR" sz="1100" dirty="0">
                <a:solidFill>
                  <a:schemeClr val="bg1"/>
                </a:solidFill>
              </a:rPr>
              <a:t>LES SCANS EFFECTUÉS SUR LE RÉPERTOIRE </a:t>
            </a:r>
            <a:r>
              <a:rPr lang="fr-FR" sz="1100" b="1" dirty="0">
                <a:solidFill>
                  <a:schemeClr val="bg1"/>
                </a:solidFill>
              </a:rPr>
              <a:t>/DVWA/</a:t>
            </a:r>
            <a:r>
              <a:rPr lang="fr-FR" sz="1100" dirty="0">
                <a:solidFill>
                  <a:schemeClr val="bg1"/>
                </a:solidFill>
              </a:rPr>
              <a:t> RÉVÈLENT PLUSIEURS FAILLES DE CONFIGURATION LIÉES À LA SÉCURITÉ DES ÉCHANGES HTTP. LE RAPPORT TECHNIQUE PRÉSENTÉ MET EN ÉVIDENCE L'ABSENCE DE POLITIQUE DE SÉCURITÉ DU CONTENU (</a:t>
            </a:r>
            <a:r>
              <a:rPr lang="fr-FR" sz="1100" b="1" dirty="0">
                <a:solidFill>
                  <a:schemeClr val="bg1"/>
                </a:solidFill>
              </a:rPr>
              <a:t>CSP</a:t>
            </a:r>
            <a:r>
              <a:rPr lang="fr-FR" sz="1100" dirty="0">
                <a:solidFill>
                  <a:schemeClr val="bg1"/>
                </a:solidFill>
              </a:rPr>
              <a:t>), L'OMISSION D'EN-TÊTES DE SÉCURITÉ ESSENTIELS (</a:t>
            </a:r>
            <a:r>
              <a:rPr lang="fr-FR" sz="1100" b="1" dirty="0">
                <a:solidFill>
                  <a:schemeClr val="bg1"/>
                </a:solidFill>
              </a:rPr>
              <a:t>HTTP SECURE HEADERS</a:t>
            </a:r>
            <a:r>
              <a:rPr lang="fr-FR" sz="1100" dirty="0">
                <a:solidFill>
                  <a:schemeClr val="bg1"/>
                </a:solidFill>
              </a:rPr>
              <a:t>) ET UNE MAUVAISE GESTION DES COOKIES (</a:t>
            </a:r>
            <a:r>
              <a:rPr lang="fr-FR" sz="1100" b="1" dirty="0">
                <a:solidFill>
                  <a:schemeClr val="bg1"/>
                </a:solidFill>
              </a:rPr>
              <a:t>SECURE FLAG COOKIE</a:t>
            </a:r>
            <a:r>
              <a:rPr lang="fr-FR" sz="1100" dirty="0">
                <a:solidFill>
                  <a:schemeClr val="bg1"/>
                </a:solidFill>
              </a:rPr>
              <a:t>). CES VULNÉRABILITÉS RENDENT L'APPLICATION SENSIBLE AUX ATTAQUES PAR INJECTION, AU VOL DE SESSION ET AU DÉTOURNEMENT DE CLIC (CLICKJACKING).</a:t>
            </a:r>
            <a:endParaRPr lang="fr-FR" sz="11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D9FC62B0-5724-7BAF-996E-0C3E74509A08}"/>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AC034D39-5D28-8BFF-2D29-4136380D86B2}"/>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10" name="Image 9">
            <a:extLst>
              <a:ext uri="{FF2B5EF4-FFF2-40B4-BE49-F238E27FC236}">
                <a16:creationId xmlns:a16="http://schemas.microsoft.com/office/drawing/2014/main" id="{1D3F6BC3-491B-ACF8-EE34-07418750A8B2}"/>
              </a:ext>
            </a:extLst>
          </p:cNvPr>
          <p:cNvPicPr>
            <a:picLocks noChangeAspect="1"/>
          </p:cNvPicPr>
          <p:nvPr/>
        </p:nvPicPr>
        <p:blipFill>
          <a:blip r:embed="rId3"/>
          <a:stretch>
            <a:fillRect/>
          </a:stretch>
        </p:blipFill>
        <p:spPr>
          <a:xfrm>
            <a:off x="512805" y="2119184"/>
            <a:ext cx="4339043" cy="2323070"/>
          </a:xfrm>
          <a:prstGeom prst="rect">
            <a:avLst/>
          </a:prstGeom>
        </p:spPr>
      </p:pic>
      <p:pic>
        <p:nvPicPr>
          <p:cNvPr id="12" name="Image 11">
            <a:extLst>
              <a:ext uri="{FF2B5EF4-FFF2-40B4-BE49-F238E27FC236}">
                <a16:creationId xmlns:a16="http://schemas.microsoft.com/office/drawing/2014/main" id="{271831BD-B3AD-4C0F-3715-656A9C736CFF}"/>
              </a:ext>
            </a:extLst>
          </p:cNvPr>
          <p:cNvPicPr>
            <a:picLocks noChangeAspect="1"/>
          </p:cNvPicPr>
          <p:nvPr/>
        </p:nvPicPr>
        <p:blipFill>
          <a:blip r:embed="rId4"/>
          <a:stretch>
            <a:fillRect/>
          </a:stretch>
        </p:blipFill>
        <p:spPr>
          <a:xfrm>
            <a:off x="5053016" y="2119184"/>
            <a:ext cx="3823415" cy="2323070"/>
          </a:xfrm>
          <a:prstGeom prst="rect">
            <a:avLst/>
          </a:prstGeom>
        </p:spPr>
      </p:pic>
    </p:spTree>
    <p:extLst>
      <p:ext uri="{BB962C8B-B14F-4D97-AF65-F5344CB8AC3E}">
        <p14:creationId xmlns:p14="http://schemas.microsoft.com/office/powerpoint/2010/main" val="30160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99D5E463-D666-681A-0903-38A1758CF9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0571E0-BC7A-25D2-5BA0-0EBA4877C75F}"/>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AA5C9B91-4D0D-9D08-60FA-D6BD1675EB3D}"/>
              </a:ext>
            </a:extLst>
          </p:cNvPr>
          <p:cNvSpPr/>
          <p:nvPr/>
        </p:nvSpPr>
        <p:spPr>
          <a:xfrm>
            <a:off x="463951" y="1649627"/>
            <a:ext cx="8412480" cy="185351"/>
          </a:xfrm>
          <a:prstGeom prst="rect">
            <a:avLst/>
          </a:prstGeom>
          <a:noFill/>
          <a:ln/>
        </p:spPr>
        <p:txBody>
          <a:bodyPr wrap="square" rtlCol="0" anchor="ctr"/>
          <a:lstStyle/>
          <a:p>
            <a:r>
              <a:rPr lang="fr-FR" sz="2800" u="sng" dirty="0">
                <a:solidFill>
                  <a:schemeClr val="bg1"/>
                </a:solidFill>
              </a:rPr>
              <a:t>SCAN AVEC ZAP:</a:t>
            </a:r>
          </a:p>
          <a:p>
            <a:endParaRPr lang="fr-FR" sz="2800" u="sng" dirty="0">
              <a:solidFill>
                <a:schemeClr val="bg1"/>
              </a:solidFill>
            </a:endParaRPr>
          </a:p>
          <a:p>
            <a:pPr marL="342900" indent="-342900" algn="ctr">
              <a:buFont typeface="Arial" panose="020B0604020202020204" pitchFamily="34" charset="0"/>
              <a:buChar char="•"/>
            </a:pPr>
            <a:r>
              <a:rPr lang="fr-FR" sz="2000" dirty="0">
                <a:solidFill>
                  <a:schemeClr val="bg1"/>
                </a:solidFill>
              </a:rPr>
              <a:t>INSTALLATION D'OWASP ZAP</a:t>
            </a:r>
          </a:p>
          <a:p>
            <a:pPr marL="342900" indent="-342900" algn="ctr">
              <a:buFont typeface="Arial" panose="020B0604020202020204" pitchFamily="34" charset="0"/>
              <a:buChar char="•"/>
            </a:pPr>
            <a:endParaRPr lang="fr-FR" sz="2000" dirty="0">
              <a:solidFill>
                <a:schemeClr val="bg1"/>
              </a:solidFill>
            </a:endParaRPr>
          </a:p>
          <a:p>
            <a:endParaRPr lang="fr-FR" sz="28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A0922C4B-5E63-4427-C473-36C4447DA2AB}"/>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96499A72-EC1C-53C4-C6AF-5EF84FED521E}"/>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458630AE-0594-74E6-D9FC-222530C32C19}"/>
              </a:ext>
            </a:extLst>
          </p:cNvPr>
          <p:cNvPicPr>
            <a:picLocks noChangeAspect="1"/>
          </p:cNvPicPr>
          <p:nvPr/>
        </p:nvPicPr>
        <p:blipFill>
          <a:blip r:embed="rId3"/>
          <a:stretch>
            <a:fillRect/>
          </a:stretch>
        </p:blipFill>
        <p:spPr>
          <a:xfrm>
            <a:off x="1825093" y="2388838"/>
            <a:ext cx="5016758" cy="628682"/>
          </a:xfrm>
          <a:prstGeom prst="rect">
            <a:avLst/>
          </a:prstGeom>
        </p:spPr>
      </p:pic>
    </p:spTree>
    <p:extLst>
      <p:ext uri="{BB962C8B-B14F-4D97-AF65-F5344CB8AC3E}">
        <p14:creationId xmlns:p14="http://schemas.microsoft.com/office/powerpoint/2010/main" val="1595848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3A4F4E0-9F82-8905-8A40-44044A4B4A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0965942-77E1-F578-DB1E-F567BFD0F875}"/>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158F88F4-FA60-3DC0-4BDA-1FF4971ED09F}"/>
              </a:ext>
            </a:extLst>
          </p:cNvPr>
          <p:cNvSpPr/>
          <p:nvPr/>
        </p:nvSpPr>
        <p:spPr>
          <a:xfrm>
            <a:off x="463951" y="1649627"/>
            <a:ext cx="8412480" cy="185351"/>
          </a:xfrm>
          <a:prstGeom prst="rect">
            <a:avLst/>
          </a:prstGeom>
          <a:noFill/>
          <a:ln/>
        </p:spPr>
        <p:txBody>
          <a:bodyPr wrap="square" rtlCol="0" anchor="ctr"/>
          <a:lstStyle/>
          <a:p>
            <a:r>
              <a:rPr lang="fr-FR" sz="2800" u="sng" dirty="0">
                <a:solidFill>
                  <a:schemeClr val="bg1"/>
                </a:solidFill>
              </a:rPr>
              <a:t>LANCEMENT D'OWASP ZAP:</a:t>
            </a:r>
          </a:p>
          <a:p>
            <a:endParaRPr lang="fr-FR" sz="2800" u="sng" dirty="0">
              <a:solidFill>
                <a:schemeClr val="bg1"/>
              </a:solidFill>
            </a:endParaRPr>
          </a:p>
          <a:p>
            <a:pPr algn="ctr"/>
            <a:endParaRPr lang="fr-FR" sz="2000" dirty="0">
              <a:solidFill>
                <a:schemeClr val="bg1"/>
              </a:solidFill>
            </a:endParaRPr>
          </a:p>
          <a:p>
            <a:endParaRPr lang="fr-FR" sz="28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63774AC8-39DD-D220-891A-AFFDA66354DD}"/>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1A12AA9F-E223-AA7A-25FB-6582C8134643}"/>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88A5BB52-73E0-DBFC-46CF-0DAC9046D283}"/>
              </a:ext>
            </a:extLst>
          </p:cNvPr>
          <p:cNvPicPr>
            <a:picLocks noChangeAspect="1"/>
          </p:cNvPicPr>
          <p:nvPr/>
        </p:nvPicPr>
        <p:blipFill>
          <a:blip r:embed="rId3"/>
          <a:stretch>
            <a:fillRect/>
          </a:stretch>
        </p:blipFill>
        <p:spPr>
          <a:xfrm>
            <a:off x="2590179" y="1427205"/>
            <a:ext cx="2730640" cy="2997354"/>
          </a:xfrm>
          <a:prstGeom prst="rect">
            <a:avLst/>
          </a:prstGeom>
        </p:spPr>
      </p:pic>
    </p:spTree>
    <p:extLst>
      <p:ext uri="{BB962C8B-B14F-4D97-AF65-F5344CB8AC3E}">
        <p14:creationId xmlns:p14="http://schemas.microsoft.com/office/powerpoint/2010/main" val="9919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687013D-9A9F-82F9-3CDB-0DE21E02FA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9771E0-9223-C488-3757-325A1FA1583F}"/>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5C5A6341-348E-CDC3-CA82-6A2006E255BF}"/>
              </a:ext>
            </a:extLst>
          </p:cNvPr>
          <p:cNvSpPr/>
          <p:nvPr/>
        </p:nvSpPr>
        <p:spPr>
          <a:xfrm>
            <a:off x="463951" y="1649627"/>
            <a:ext cx="8412480" cy="185351"/>
          </a:xfrm>
          <a:prstGeom prst="rect">
            <a:avLst/>
          </a:prstGeom>
          <a:noFill/>
          <a:ln/>
        </p:spPr>
        <p:txBody>
          <a:bodyPr wrap="square" rtlCol="0" anchor="ctr"/>
          <a:lstStyle/>
          <a:p>
            <a:r>
              <a:rPr lang="fr-FR" sz="2800" u="sng" dirty="0">
                <a:solidFill>
                  <a:schemeClr val="bg1"/>
                </a:solidFill>
              </a:rPr>
              <a:t>MENU PRINCIPAL D'OWASP ZAP:</a:t>
            </a:r>
          </a:p>
          <a:p>
            <a:endParaRPr lang="fr-FR" sz="2800" u="sng" dirty="0">
              <a:solidFill>
                <a:schemeClr val="bg1"/>
              </a:solidFill>
            </a:endParaRPr>
          </a:p>
          <a:p>
            <a:pPr algn="ctr"/>
            <a:r>
              <a:rPr lang="fr-FR" sz="2000" dirty="0">
                <a:solidFill>
                  <a:schemeClr val="bg1"/>
                </a:solidFill>
              </a:rPr>
              <a:t>SÉLECTIONNER LA MÉTHODE D'ATTAQUE POUR LANCER LA RECHERCHE DE FAILLES SUR L'URL DE DVWA.</a:t>
            </a:r>
          </a:p>
          <a:p>
            <a:endParaRPr lang="fr-FR" sz="28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1E40CC11-CC4E-19C2-A8C9-D4BEEAA022A1}"/>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6C6A1D7C-74DE-D4A3-EB7F-D390EE61AF0C}"/>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10" name="Image 9">
            <a:extLst>
              <a:ext uri="{FF2B5EF4-FFF2-40B4-BE49-F238E27FC236}">
                <a16:creationId xmlns:a16="http://schemas.microsoft.com/office/drawing/2014/main" id="{7348026E-6505-1FDB-AEA5-BBBA81C4903B}"/>
              </a:ext>
            </a:extLst>
          </p:cNvPr>
          <p:cNvPicPr>
            <a:picLocks noChangeAspect="1"/>
          </p:cNvPicPr>
          <p:nvPr/>
        </p:nvPicPr>
        <p:blipFill>
          <a:blip r:embed="rId3"/>
          <a:stretch>
            <a:fillRect/>
          </a:stretch>
        </p:blipFill>
        <p:spPr>
          <a:xfrm>
            <a:off x="463951" y="2392576"/>
            <a:ext cx="6902805" cy="2362321"/>
          </a:xfrm>
          <a:prstGeom prst="rect">
            <a:avLst/>
          </a:prstGeom>
        </p:spPr>
      </p:pic>
      <p:sp>
        <p:nvSpPr>
          <p:cNvPr id="11" name="Ellipse 10">
            <a:extLst>
              <a:ext uri="{FF2B5EF4-FFF2-40B4-BE49-F238E27FC236}">
                <a16:creationId xmlns:a16="http://schemas.microsoft.com/office/drawing/2014/main" id="{5126A9D5-B29E-2CF1-7405-E2AF953D441D}"/>
              </a:ext>
            </a:extLst>
          </p:cNvPr>
          <p:cNvSpPr/>
          <p:nvPr/>
        </p:nvSpPr>
        <p:spPr>
          <a:xfrm>
            <a:off x="2218038" y="3429000"/>
            <a:ext cx="1272746" cy="822960"/>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65423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041B056-FDDF-D009-7873-4364F7706F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3B5847-F456-6E08-9A0E-CAE4AB3D4069}"/>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52ADA9A0-DCC5-6A84-9177-D51C412A430F}"/>
              </a:ext>
            </a:extLst>
          </p:cNvPr>
          <p:cNvSpPr/>
          <p:nvPr/>
        </p:nvSpPr>
        <p:spPr>
          <a:xfrm>
            <a:off x="463951" y="1649627"/>
            <a:ext cx="8412480" cy="185351"/>
          </a:xfrm>
          <a:prstGeom prst="rect">
            <a:avLst/>
          </a:prstGeom>
          <a:noFill/>
          <a:ln/>
        </p:spPr>
        <p:txBody>
          <a:bodyPr wrap="square" rtlCol="0" anchor="ctr"/>
          <a:lstStyle/>
          <a:p>
            <a:r>
              <a:rPr lang="fr-FR" sz="2800" u="sng" dirty="0">
                <a:solidFill>
                  <a:schemeClr val="bg1"/>
                </a:solidFill>
              </a:rPr>
              <a:t>CONFIGURATION DU SCAN AUTOMATISÉ:</a:t>
            </a:r>
          </a:p>
          <a:p>
            <a:endParaRPr lang="fr-FR" sz="2800" u="sng" dirty="0">
              <a:solidFill>
                <a:schemeClr val="bg1"/>
              </a:solidFill>
            </a:endParaRPr>
          </a:p>
          <a:p>
            <a:pPr algn="ctr"/>
            <a:endParaRPr lang="fr-FR" sz="2000" dirty="0">
              <a:solidFill>
                <a:schemeClr val="bg1"/>
              </a:solidFill>
            </a:endParaRPr>
          </a:p>
          <a:p>
            <a:endParaRPr lang="fr-FR" sz="28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30B39E58-B45B-305F-C1CF-91E81B664AE7}"/>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57A73EB1-BF3C-6ED0-DA37-A9A89EAB0FEF}"/>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13" name="Image 12">
            <a:extLst>
              <a:ext uri="{FF2B5EF4-FFF2-40B4-BE49-F238E27FC236}">
                <a16:creationId xmlns:a16="http://schemas.microsoft.com/office/drawing/2014/main" id="{F3E6BE78-06F0-806C-BF83-4C3828BE6286}"/>
              </a:ext>
            </a:extLst>
          </p:cNvPr>
          <p:cNvPicPr>
            <a:picLocks noChangeAspect="1"/>
          </p:cNvPicPr>
          <p:nvPr/>
        </p:nvPicPr>
        <p:blipFill>
          <a:blip r:embed="rId3"/>
          <a:stretch>
            <a:fillRect/>
          </a:stretch>
        </p:blipFill>
        <p:spPr>
          <a:xfrm>
            <a:off x="667465" y="1823658"/>
            <a:ext cx="6921856" cy="2387723"/>
          </a:xfrm>
          <a:prstGeom prst="rect">
            <a:avLst/>
          </a:prstGeom>
        </p:spPr>
      </p:pic>
    </p:spTree>
    <p:extLst>
      <p:ext uri="{BB962C8B-B14F-4D97-AF65-F5344CB8AC3E}">
        <p14:creationId xmlns:p14="http://schemas.microsoft.com/office/powerpoint/2010/main" val="1888102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2AE592A-5B9A-B210-EDC4-94506ED1C72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06F50E-0254-C714-31BB-CE5A67B63870}"/>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9D85CC21-EFA0-78B1-3EF6-709147FD6D64}"/>
              </a:ext>
            </a:extLst>
          </p:cNvPr>
          <p:cNvSpPr/>
          <p:nvPr/>
        </p:nvSpPr>
        <p:spPr>
          <a:xfrm>
            <a:off x="463951" y="1649627"/>
            <a:ext cx="8412480" cy="185351"/>
          </a:xfrm>
          <a:prstGeom prst="rect">
            <a:avLst/>
          </a:prstGeom>
          <a:noFill/>
          <a:ln/>
        </p:spPr>
        <p:txBody>
          <a:bodyPr wrap="square" rtlCol="0" anchor="ctr"/>
          <a:lstStyle/>
          <a:p>
            <a:r>
              <a:rPr lang="fr-FR" sz="2800" u="sng" dirty="0">
                <a:solidFill>
                  <a:schemeClr val="bg1"/>
                </a:solidFill>
              </a:rPr>
              <a:t>EXÉCUTION DU SCAN ACTIF AVEC OWASP ZAP:</a:t>
            </a:r>
          </a:p>
          <a:p>
            <a:endParaRPr lang="fr-FR" sz="2800" u="sng" dirty="0">
              <a:solidFill>
                <a:schemeClr val="bg1"/>
              </a:solidFill>
            </a:endParaRPr>
          </a:p>
          <a:p>
            <a:r>
              <a:rPr lang="fr-FR" sz="1200" dirty="0">
                <a:solidFill>
                  <a:schemeClr val="bg1"/>
                </a:solidFill>
              </a:rPr>
              <a:t>Lors de la phase d'audit dynamique illustrée, l'outil </a:t>
            </a:r>
            <a:r>
              <a:rPr lang="fr-FR" sz="1200" b="1" dirty="0">
                <a:solidFill>
                  <a:schemeClr val="bg1"/>
                </a:solidFill>
              </a:rPr>
              <a:t>OWASP ZAP</a:t>
            </a:r>
            <a:r>
              <a:rPr lang="fr-FR" sz="1200" dirty="0">
                <a:solidFill>
                  <a:schemeClr val="bg1"/>
                </a:solidFill>
              </a:rPr>
              <a:t> procède à un </a:t>
            </a:r>
            <a:r>
              <a:rPr lang="fr-FR" sz="1200" b="1" dirty="0">
                <a:solidFill>
                  <a:schemeClr val="bg1"/>
                </a:solidFill>
              </a:rPr>
              <a:t>Active Scan</a:t>
            </a:r>
            <a:r>
              <a:rPr lang="fr-FR" sz="1200" dirty="0">
                <a:solidFill>
                  <a:schemeClr val="bg1"/>
                </a:solidFill>
              </a:rPr>
              <a:t> sur l'application </a:t>
            </a:r>
            <a:r>
              <a:rPr lang="fr-FR" sz="1200" b="1" dirty="0">
                <a:solidFill>
                  <a:schemeClr val="bg1"/>
                </a:solidFill>
              </a:rPr>
              <a:t>DVWA</a:t>
            </a:r>
            <a:r>
              <a:rPr lang="fr-FR" sz="1200" dirty="0">
                <a:solidFill>
                  <a:schemeClr val="bg1"/>
                </a:solidFill>
              </a:rPr>
              <a:t>. Contrairement à une simple exploration, cette étape simule une attaque réelle en injectant des charges utiles (</a:t>
            </a:r>
            <a:r>
              <a:rPr lang="fr-FR" sz="1200" dirty="0" err="1">
                <a:solidFill>
                  <a:schemeClr val="bg1"/>
                </a:solidFill>
              </a:rPr>
              <a:t>payloads</a:t>
            </a:r>
            <a:r>
              <a:rPr lang="fr-FR" sz="1200" dirty="0">
                <a:solidFill>
                  <a:schemeClr val="bg1"/>
                </a:solidFill>
              </a:rPr>
              <a:t>) dans les requêtes </a:t>
            </a:r>
            <a:r>
              <a:rPr lang="fr-FR" sz="1200" b="1" dirty="0">
                <a:solidFill>
                  <a:schemeClr val="bg1"/>
                </a:solidFill>
              </a:rPr>
              <a:t>GET</a:t>
            </a:r>
            <a:r>
              <a:rPr lang="fr-FR" sz="1200" dirty="0">
                <a:solidFill>
                  <a:schemeClr val="bg1"/>
                </a:solidFill>
              </a:rPr>
              <a:t> et </a:t>
            </a:r>
            <a:r>
              <a:rPr lang="fr-FR" sz="1200" b="1" dirty="0">
                <a:solidFill>
                  <a:schemeClr val="bg1"/>
                </a:solidFill>
              </a:rPr>
              <a:t>POST</a:t>
            </a:r>
            <a:r>
              <a:rPr lang="fr-FR" sz="1200" dirty="0">
                <a:solidFill>
                  <a:schemeClr val="bg1"/>
                </a:solidFill>
              </a:rPr>
              <a:t>, notamment vers la page </a:t>
            </a:r>
            <a:r>
              <a:rPr lang="fr-FR" sz="1200" dirty="0" err="1">
                <a:solidFill>
                  <a:schemeClr val="bg1"/>
                </a:solidFill>
              </a:rPr>
              <a:t>login.php</a:t>
            </a:r>
            <a:r>
              <a:rPr lang="fr-FR" sz="1200" dirty="0">
                <a:solidFill>
                  <a:schemeClr val="bg1"/>
                </a:solidFill>
              </a:rPr>
              <a:t>, pour tenter de forcer des failles comme l'injection SQL ou le contournement d'authentification. Avec déjà </a:t>
            </a:r>
            <a:r>
              <a:rPr lang="fr-FR" sz="1200" b="1" dirty="0">
                <a:solidFill>
                  <a:schemeClr val="bg1"/>
                </a:solidFill>
              </a:rPr>
              <a:t>1390 requêtes</a:t>
            </a:r>
            <a:r>
              <a:rPr lang="fr-FR" sz="1200" dirty="0">
                <a:solidFill>
                  <a:schemeClr val="bg1"/>
                </a:solidFill>
              </a:rPr>
              <a:t> envoyées et une première alerte détectée, l'objectif est d'identifier des vulnérabilités critiques liées aux formulaires que les outils de scan statiques ou de simples "spiders" auraient pu manquer.</a:t>
            </a:r>
            <a:endParaRPr lang="fr-FR" sz="1200" u="sng" dirty="0">
              <a:solidFill>
                <a:schemeClr val="bg1"/>
              </a:solidFill>
            </a:endParaRPr>
          </a:p>
          <a:p>
            <a:pPr algn="ctr"/>
            <a:endParaRPr lang="fr-FR" sz="2000" dirty="0">
              <a:solidFill>
                <a:schemeClr val="bg1"/>
              </a:solidFill>
            </a:endParaRPr>
          </a:p>
          <a:p>
            <a:endParaRPr lang="fr-FR" sz="28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E7239FC4-26CC-509A-C930-A473DE88E8E9}"/>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A565D480-8064-5576-6B83-D3AD5BBD85BA}"/>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7" name="Image 6">
            <a:extLst>
              <a:ext uri="{FF2B5EF4-FFF2-40B4-BE49-F238E27FC236}">
                <a16:creationId xmlns:a16="http://schemas.microsoft.com/office/drawing/2014/main" id="{DA34C085-DC4A-B067-A5B5-50E3B85F06AD}"/>
              </a:ext>
            </a:extLst>
          </p:cNvPr>
          <p:cNvPicPr>
            <a:picLocks noChangeAspect="1"/>
          </p:cNvPicPr>
          <p:nvPr/>
        </p:nvPicPr>
        <p:blipFill>
          <a:blip r:embed="rId3"/>
          <a:stretch>
            <a:fillRect/>
          </a:stretch>
        </p:blipFill>
        <p:spPr>
          <a:xfrm>
            <a:off x="365760" y="1920240"/>
            <a:ext cx="5622325" cy="3113957"/>
          </a:xfrm>
          <a:prstGeom prst="rect">
            <a:avLst/>
          </a:prstGeom>
        </p:spPr>
      </p:pic>
    </p:spTree>
    <p:extLst>
      <p:ext uri="{BB962C8B-B14F-4D97-AF65-F5344CB8AC3E}">
        <p14:creationId xmlns:p14="http://schemas.microsoft.com/office/powerpoint/2010/main" val="555226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FD4A67A-E0FE-949B-C0D4-2977FDBD0A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9D92193-512C-6CB3-FA66-CEACA26BCFEC}"/>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3E496795-ABC2-FE92-2FF4-594552054726}"/>
              </a:ext>
            </a:extLst>
          </p:cNvPr>
          <p:cNvSpPr/>
          <p:nvPr/>
        </p:nvSpPr>
        <p:spPr>
          <a:xfrm>
            <a:off x="463951" y="1783080"/>
            <a:ext cx="8412480" cy="51898"/>
          </a:xfrm>
          <a:prstGeom prst="rect">
            <a:avLst/>
          </a:prstGeom>
          <a:noFill/>
          <a:ln/>
        </p:spPr>
        <p:txBody>
          <a:bodyPr wrap="square" rtlCol="0" anchor="ctr"/>
          <a:lstStyle/>
          <a:p>
            <a:r>
              <a:rPr lang="fr-FR" sz="2800" u="sng" dirty="0">
                <a:solidFill>
                  <a:schemeClr val="bg1"/>
                </a:solidFill>
              </a:rPr>
              <a:t>ANALYSE DES ALERTES DE SÉCURITÉ (OWASP ZAP):</a:t>
            </a:r>
          </a:p>
          <a:p>
            <a:endParaRPr lang="fr-FR" sz="2800" u="sng" dirty="0">
              <a:solidFill>
                <a:schemeClr val="bg1"/>
              </a:solidFill>
            </a:endParaRPr>
          </a:p>
          <a:p>
            <a:pPr algn="ctr"/>
            <a:endParaRPr lang="fr-FR" sz="2000" dirty="0">
              <a:solidFill>
                <a:schemeClr val="bg1"/>
              </a:solidFill>
            </a:endParaRPr>
          </a:p>
          <a:p>
            <a:r>
              <a:rPr lang="fr-FR" sz="1600" dirty="0">
                <a:solidFill>
                  <a:schemeClr val="bg1"/>
                </a:solidFill>
              </a:rPr>
              <a:t>le bilan de sécurité illustré dans le fichier </a:t>
            </a:r>
            <a:r>
              <a:rPr lang="fr-FR" sz="1600" b="1" dirty="0">
                <a:solidFill>
                  <a:schemeClr val="bg1"/>
                </a:solidFill>
              </a:rPr>
              <a:t>Capture d'écran 2026-05-04 230656.png</a:t>
            </a:r>
            <a:r>
              <a:rPr lang="fr-FR" sz="1600" dirty="0">
                <a:solidFill>
                  <a:schemeClr val="bg1"/>
                </a:solidFill>
              </a:rPr>
              <a:t> révèle </a:t>
            </a:r>
            <a:r>
              <a:rPr lang="fr-FR" sz="1600" b="1" dirty="0">
                <a:solidFill>
                  <a:schemeClr val="bg1"/>
                </a:solidFill>
              </a:rPr>
              <a:t>12 alertes</a:t>
            </a:r>
            <a:r>
              <a:rPr lang="fr-FR" sz="1600" dirty="0">
                <a:solidFill>
                  <a:schemeClr val="bg1"/>
                </a:solidFill>
              </a:rPr>
              <a:t> mettant en évidence des faiblesses structurelles de l'application.</a:t>
            </a:r>
            <a:endParaRPr lang="fr-FR" sz="1600" u="sng" dirty="0">
              <a:solidFill>
                <a:schemeClr val="bg1"/>
              </a:solidFill>
            </a:endParaRPr>
          </a:p>
          <a:p>
            <a:endParaRPr lang="fr-FR" sz="28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5B026B91-B309-DA6E-030B-777A56AB4083}"/>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88715C13-52BD-7FC4-E755-199747F8EA95}"/>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pic>
        <p:nvPicPr>
          <p:cNvPr id="8" name="Image 7">
            <a:extLst>
              <a:ext uri="{FF2B5EF4-FFF2-40B4-BE49-F238E27FC236}">
                <a16:creationId xmlns:a16="http://schemas.microsoft.com/office/drawing/2014/main" id="{E8B61400-AD2F-825C-6698-171C6C38FDC1}"/>
              </a:ext>
            </a:extLst>
          </p:cNvPr>
          <p:cNvPicPr>
            <a:picLocks noChangeAspect="1"/>
          </p:cNvPicPr>
          <p:nvPr/>
        </p:nvPicPr>
        <p:blipFill>
          <a:blip r:embed="rId3"/>
          <a:stretch>
            <a:fillRect/>
          </a:stretch>
        </p:blipFill>
        <p:spPr>
          <a:xfrm>
            <a:off x="688271" y="2630754"/>
            <a:ext cx="2762392" cy="2000353"/>
          </a:xfrm>
          <a:prstGeom prst="rect">
            <a:avLst/>
          </a:prstGeom>
        </p:spPr>
      </p:pic>
    </p:spTree>
    <p:extLst>
      <p:ext uri="{BB962C8B-B14F-4D97-AF65-F5344CB8AC3E}">
        <p14:creationId xmlns:p14="http://schemas.microsoft.com/office/powerpoint/2010/main" val="818551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0CA28F74-7A15-F774-18C2-7ACA76F0024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523685-38AF-1855-5398-D23F9A42157A}"/>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6E3B2DF6-395B-7A65-C39E-7A41AF0A3534}"/>
              </a:ext>
            </a:extLst>
          </p:cNvPr>
          <p:cNvSpPr/>
          <p:nvPr/>
        </p:nvSpPr>
        <p:spPr>
          <a:xfrm>
            <a:off x="463951" y="1783080"/>
            <a:ext cx="8412480" cy="2665352"/>
          </a:xfrm>
          <a:prstGeom prst="rect">
            <a:avLst/>
          </a:prstGeom>
          <a:noFill/>
          <a:ln/>
        </p:spPr>
        <p:txBody>
          <a:bodyPr wrap="square" rtlCol="0" anchor="ctr"/>
          <a:lstStyle/>
          <a:p>
            <a:pPr algn="ctr"/>
            <a:r>
              <a:rPr lang="fr-FR" sz="2400" u="sng" dirty="0">
                <a:solidFill>
                  <a:schemeClr val="bg1"/>
                </a:solidFill>
              </a:rPr>
              <a:t>ANALYSE COMPARATIVE ENTRE WAPITI ET ZAP</a:t>
            </a:r>
          </a:p>
          <a:p>
            <a:endParaRPr lang="fr-FR" sz="1400" dirty="0">
              <a:solidFill>
                <a:schemeClr val="bg1"/>
              </a:solidFill>
            </a:endParaRPr>
          </a:p>
          <a:p>
            <a:endParaRPr lang="fr-FR" sz="1400" dirty="0">
              <a:solidFill>
                <a:schemeClr val="bg1"/>
              </a:solidFill>
            </a:endParaRPr>
          </a:p>
          <a:p>
            <a:pPr marL="285750" indent="-285750">
              <a:buFont typeface="Arial" panose="020B0604020202020204" pitchFamily="34" charset="0"/>
              <a:buChar char="•"/>
            </a:pPr>
            <a:r>
              <a:rPr lang="fr-FR" sz="1400" dirty="0">
                <a:solidFill>
                  <a:schemeClr val="bg1"/>
                </a:solidFill>
              </a:rPr>
              <a:t> ALORS QUE WAPITI S'EST MONTRÉ EFFICACE POUR IDENTIFIER RAPIDEMENT LES VULNÉRABILITÉS DE CONFIGURATION ET LES EN-TÊTES MANQUANTS DÈS LES PREMIÈRES ÉTAPES DE L'AUDIT.</a:t>
            </a:r>
          </a:p>
          <a:p>
            <a:endParaRPr lang="fr-FR" sz="1400" dirty="0">
              <a:solidFill>
                <a:schemeClr val="bg1"/>
              </a:solidFill>
            </a:endParaRPr>
          </a:p>
          <a:p>
            <a:pPr marL="285750" indent="-285750">
              <a:buFont typeface="Arial" panose="020B0604020202020204" pitchFamily="34" charset="0"/>
              <a:buChar char="•"/>
            </a:pPr>
            <a:r>
              <a:rPr lang="fr-FR" sz="1400" dirty="0">
                <a:solidFill>
                  <a:schemeClr val="bg1"/>
                </a:solidFill>
              </a:rPr>
              <a:t>OWASP ZAP A PERMIS D'APPROFONDIR L'ANALYSE EN SIMULANT DES COMPORTEMENTS D'ATTAQUANT SUR LES POINTS D'ENTRÉE COMME LOGIN.PHP.</a:t>
            </a:r>
          </a:p>
          <a:p>
            <a:endParaRPr lang="fr-FR" sz="1400" dirty="0">
              <a:solidFill>
                <a:schemeClr val="bg1"/>
              </a:solidFill>
            </a:endParaRPr>
          </a:p>
          <a:p>
            <a:pPr marL="285750" indent="-285750">
              <a:buFont typeface="Arial" panose="020B0604020202020204" pitchFamily="34" charset="0"/>
              <a:buChar char="•"/>
            </a:pPr>
            <a:r>
              <a:rPr lang="fr-FR" sz="1400" dirty="0">
                <a:solidFill>
                  <a:schemeClr val="bg1"/>
                </a:solidFill>
              </a:rPr>
              <a:t>L'UTILISATION COMBINÉE DES DEUX OUTILS A PERMIS DE CONFIRMER DES FAILLES CRITIQUES RÉCURRENTES, NOTAMMENT L'ABSENCE DE CONTENT SECURITY POLICY (CSP) ET DU SECURE FLAG COOKIE.</a:t>
            </a:r>
          </a:p>
          <a:p>
            <a:endParaRPr lang="fr-FR" sz="1400" dirty="0">
              <a:solidFill>
                <a:schemeClr val="bg1"/>
              </a:solidFill>
            </a:endParaRPr>
          </a:p>
          <a:p>
            <a:pPr marL="285750" indent="-285750">
              <a:buFont typeface="Arial" panose="020B0604020202020204" pitchFamily="34" charset="0"/>
              <a:buChar char="•"/>
            </a:pPr>
            <a:r>
              <a:rPr lang="fr-FR" sz="1400" dirty="0">
                <a:solidFill>
                  <a:schemeClr val="bg1"/>
                </a:solidFill>
              </a:rPr>
              <a:t>OWASP ZAP OFFRE UNE VISION PLUS DÉTAILLÉE DE LA SURFACE D'ATTAQUE GRÂCE À LA CATÉGORISATION DES RISQUES PAR NIVEAU DE SÉVÉRITÉ.</a:t>
            </a:r>
          </a:p>
          <a:p>
            <a:endParaRPr lang="fr-FR" sz="1400" u="sng" dirty="0">
              <a:solidFill>
                <a:schemeClr val="bg1"/>
              </a:solidFill>
            </a:endParaRPr>
          </a:p>
          <a:p>
            <a:pPr algn="ctr"/>
            <a:endParaRPr lang="fr-FR" sz="1400" dirty="0">
              <a:solidFill>
                <a:schemeClr val="bg1"/>
              </a:solidFill>
            </a:endParaRPr>
          </a:p>
          <a:p>
            <a:endParaRPr lang="fr-FR" sz="14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E83F6222-86EB-A234-EF35-35351FB0E4A2}"/>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72996D68-EC6A-0E04-C367-93D5FFA16CC3}"/>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spTree>
    <p:extLst>
      <p:ext uri="{BB962C8B-B14F-4D97-AF65-F5344CB8AC3E}">
        <p14:creationId xmlns:p14="http://schemas.microsoft.com/office/powerpoint/2010/main" val="1959624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4D9BE88-4EB9-8EB6-9D28-2652E97A93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60DC31-2013-7ADC-361B-E24DE5043C11}"/>
              </a:ext>
            </a:extLst>
          </p:cNvPr>
          <p:cNvSpPr/>
          <p:nvPr/>
        </p:nvSpPr>
        <p:spPr>
          <a:xfrm>
            <a:off x="0" y="0"/>
            <a:ext cx="164592" cy="5143500"/>
          </a:xfrm>
          <a:prstGeom prst="rect">
            <a:avLst/>
          </a:prstGeom>
          <a:solidFill>
            <a:srgbClr val="00BCD4"/>
          </a:solidFill>
          <a:ln w="12700">
            <a:solidFill>
              <a:srgbClr val="00BCD4"/>
            </a:solidFill>
            <a:prstDash val="solid"/>
          </a:ln>
        </p:spPr>
      </p:sp>
      <p:sp>
        <p:nvSpPr>
          <p:cNvPr id="3" name="Text 1">
            <a:extLst>
              <a:ext uri="{FF2B5EF4-FFF2-40B4-BE49-F238E27FC236}">
                <a16:creationId xmlns:a16="http://schemas.microsoft.com/office/drawing/2014/main" id="{672158C9-2F7C-9B56-3921-3E895C922246}"/>
              </a:ext>
            </a:extLst>
          </p:cNvPr>
          <p:cNvSpPr/>
          <p:nvPr/>
        </p:nvSpPr>
        <p:spPr>
          <a:xfrm>
            <a:off x="463951" y="1783080"/>
            <a:ext cx="8412480" cy="2665352"/>
          </a:xfrm>
          <a:prstGeom prst="rect">
            <a:avLst/>
          </a:prstGeom>
          <a:noFill/>
          <a:ln/>
        </p:spPr>
        <p:txBody>
          <a:bodyPr wrap="square" rtlCol="0" anchor="ctr"/>
          <a:lstStyle/>
          <a:p>
            <a:pPr algn="ctr"/>
            <a:r>
              <a:rPr lang="fr-FR" sz="2400" u="sng" dirty="0">
                <a:solidFill>
                  <a:schemeClr val="bg1"/>
                </a:solidFill>
              </a:rPr>
              <a:t>CONCLUSION</a:t>
            </a:r>
          </a:p>
          <a:p>
            <a:endParaRPr lang="fr-FR" sz="1400" dirty="0">
              <a:solidFill>
                <a:schemeClr val="bg1"/>
              </a:solidFill>
            </a:endParaRPr>
          </a:p>
          <a:p>
            <a:endParaRPr lang="fr-FR" sz="1400" dirty="0">
              <a:solidFill>
                <a:schemeClr val="bg1"/>
              </a:solidFill>
            </a:endParaRPr>
          </a:p>
          <a:p>
            <a:r>
              <a:rPr lang="fr-FR" sz="1400" dirty="0">
                <a:solidFill>
                  <a:schemeClr val="bg1"/>
                </a:solidFill>
              </a:rPr>
              <a:t>L'AUDIT DE SÉCURITÉ RÉALISÉ SUR L'APPLICATION DVWA DÉMONTRE L'IMPORTANCE D'UNE APPROCHE MULTI-OUTILS POUR IDENTIFIER LES FAILLES DE MANIÈRE EXHAUSTIVE. ALORS QUE WAPITI A PERMIS DE RÉVÉLER RAPIDEMENT DES LACUNES DANS LES EN-TÊTES DE SÉCURITÉ (CSP, SECURE HEADERS) ET LA GESTION DES COOKIES, OWASP ZAP A APPROFONDI CETTE ANALYSE PAR UN SCAN ACTIF SUR LES FORMULAIRES DE CONNEXION.</a:t>
            </a:r>
            <a:endParaRPr lang="fr-FR" sz="1400" u="sng" dirty="0">
              <a:solidFill>
                <a:schemeClr val="bg1"/>
              </a:solidFill>
            </a:endParaRPr>
          </a:p>
          <a:p>
            <a:pPr algn="ctr"/>
            <a:endParaRPr lang="fr-FR" sz="1400" dirty="0">
              <a:solidFill>
                <a:schemeClr val="bg1"/>
              </a:solidFill>
            </a:endParaRPr>
          </a:p>
          <a:p>
            <a:endParaRPr lang="fr-FR" sz="1400" u="sng" dirty="0">
              <a:solidFill>
                <a:schemeClr val="bg1"/>
              </a:solidFill>
            </a:endParaRPr>
          </a:p>
          <a:p>
            <a:endParaRPr lang="fr-FR" sz="1100" u="sng" dirty="0">
              <a:solidFill>
                <a:schemeClr val="bg1"/>
              </a:solidFill>
            </a:endParaRPr>
          </a:p>
          <a:p>
            <a:endParaRPr lang="fr-FR" sz="1400" u="sng" dirty="0">
              <a:solidFill>
                <a:schemeClr val="bg1"/>
              </a:solidFill>
            </a:endParaRPr>
          </a:p>
        </p:txBody>
      </p:sp>
      <p:sp>
        <p:nvSpPr>
          <p:cNvPr id="4" name="Text 2">
            <a:extLst>
              <a:ext uri="{FF2B5EF4-FFF2-40B4-BE49-F238E27FC236}">
                <a16:creationId xmlns:a16="http://schemas.microsoft.com/office/drawing/2014/main" id="{9C84A749-95BC-8161-0EA5-8862B684D677}"/>
              </a:ext>
            </a:extLst>
          </p:cNvPr>
          <p:cNvSpPr/>
          <p:nvPr/>
        </p:nvSpPr>
        <p:spPr>
          <a:xfrm>
            <a:off x="731520" y="1920240"/>
            <a:ext cx="8412480" cy="548640"/>
          </a:xfrm>
          <a:prstGeom prst="rect">
            <a:avLst/>
          </a:prstGeom>
          <a:noFill/>
          <a:ln/>
        </p:spPr>
        <p:txBody>
          <a:bodyPr wrap="square" rtlCol="0" anchor="ctr"/>
          <a:lstStyle/>
          <a:p>
            <a:pPr marL="0" indent="0" algn="l">
              <a:buNone/>
            </a:pPr>
            <a:endParaRPr lang="en-US" sz="2200" dirty="0"/>
          </a:p>
        </p:txBody>
      </p:sp>
      <p:sp>
        <p:nvSpPr>
          <p:cNvPr id="5" name="Text 3">
            <a:extLst>
              <a:ext uri="{FF2B5EF4-FFF2-40B4-BE49-F238E27FC236}">
                <a16:creationId xmlns:a16="http://schemas.microsoft.com/office/drawing/2014/main" id="{5E86BE13-7D0F-352E-D2A9-391376AFA966}"/>
              </a:ext>
            </a:extLst>
          </p:cNvPr>
          <p:cNvSpPr/>
          <p:nvPr/>
        </p:nvSpPr>
        <p:spPr>
          <a:xfrm>
            <a:off x="365760" y="2606040"/>
            <a:ext cx="7772400" cy="822960"/>
          </a:xfrm>
          <a:prstGeom prst="rect">
            <a:avLst/>
          </a:prstGeom>
          <a:noFill/>
          <a:ln/>
        </p:spPr>
        <p:txBody>
          <a:bodyPr wrap="square" rtlCol="0" anchor="ctr"/>
          <a:lstStyle/>
          <a:p>
            <a:pPr marL="0" indent="0" algn="l">
              <a:buNone/>
            </a:pPr>
            <a:endParaRPr lang="en-US" sz="1500" dirty="0"/>
          </a:p>
        </p:txBody>
      </p:sp>
    </p:spTree>
    <p:extLst>
      <p:ext uri="{BB962C8B-B14F-4D97-AF65-F5344CB8AC3E}">
        <p14:creationId xmlns:p14="http://schemas.microsoft.com/office/powerpoint/2010/main" val="2853543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1176</Words>
  <Application>Microsoft Office PowerPoint</Application>
  <PresentationFormat>Affichage à l'écran (16:9)</PresentationFormat>
  <Paragraphs>139</Paragraphs>
  <Slides>25</Slides>
  <Notes>25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25</vt:i4>
      </vt:variant>
    </vt:vector>
  </HeadingPairs>
  <TitlesOfParts>
    <vt:vector size="2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de sécurité DVWA — Wapiti &amp; ZAP</dc:title>
  <dc:subject>PptxGenJS Presentation</dc:subject>
  <dc:creator>PptxGenJS</dc:creator>
  <cp:lastModifiedBy>ADJI MAGUETTE OUSSEYNOU NDIAYE</cp:lastModifiedBy>
  <cp:revision>24</cp:revision>
  <dcterms:created xsi:type="dcterms:W3CDTF">2026-05-04T21:16:46Z</dcterms:created>
  <dcterms:modified xsi:type="dcterms:W3CDTF">2026-05-07T12:51:22Z</dcterms:modified>
</cp:coreProperties>
</file>